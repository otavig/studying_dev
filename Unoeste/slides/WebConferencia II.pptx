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0"/>
  </p:notesMasterIdLst>
  <p:sldIdLst>
    <p:sldId id="256" r:id="rId3"/>
    <p:sldId id="338" r:id="rId4"/>
    <p:sldId id="701" r:id="rId5"/>
    <p:sldId id="702" r:id="rId6"/>
    <p:sldId id="703" r:id="rId7"/>
    <p:sldId id="704" r:id="rId8"/>
    <p:sldId id="705" r:id="rId9"/>
    <p:sldId id="700" r:id="rId10"/>
    <p:sldId id="706" r:id="rId11"/>
    <p:sldId id="707" r:id="rId12"/>
    <p:sldId id="708" r:id="rId13"/>
    <p:sldId id="709" r:id="rId14"/>
    <p:sldId id="710" r:id="rId15"/>
    <p:sldId id="340" r:id="rId16"/>
    <p:sldId id="312" r:id="rId17"/>
    <p:sldId id="343" r:id="rId18"/>
    <p:sldId id="342" r:id="rId19"/>
    <p:sldId id="341" r:id="rId20"/>
    <p:sldId id="348" r:id="rId21"/>
    <p:sldId id="347" r:id="rId22"/>
    <p:sldId id="319" r:id="rId23"/>
    <p:sldId id="280" r:id="rId24"/>
    <p:sldId id="344" r:id="rId25"/>
    <p:sldId id="351" r:id="rId26"/>
    <p:sldId id="350" r:id="rId27"/>
    <p:sldId id="339" r:id="rId28"/>
    <p:sldId id="258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rancisco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3" autoAdjust="0"/>
    <p:restoredTop sz="94660"/>
  </p:normalViewPr>
  <p:slideViewPr>
    <p:cSldViewPr>
      <p:cViewPr varScale="1">
        <p:scale>
          <a:sx n="82" d="100"/>
          <a:sy n="82" d="100"/>
        </p:scale>
        <p:origin x="193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87403-70FC-4B19-A741-DAF999A3C6F9}" type="datetimeFigureOut">
              <a:rPr lang="pt-BR" smtClean="0"/>
              <a:t>16/09/2024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94D69-61E7-4F32-8E85-9472A33DB9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36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F7AA312-E2CE-405D-9901-C18092B4F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CC861FD-7231-4AA7-8A0B-74FE94B6FDB4}" type="slidenum">
              <a:rPr lang="pt-BR" altLang="pt-BR" sz="1000" b="0">
                <a:latin typeface="Times New Roman" panose="02020603050405020304" pitchFamily="18" charset="0"/>
              </a:rPr>
              <a:pPr/>
              <a:t>3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D7AC8E0-1D9A-422C-8DAC-9576F6DC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BEF489D-1B4D-46D8-B138-CDA9BF6E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0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F7AA312-E2CE-405D-9901-C18092B4F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CC861FD-7231-4AA7-8A0B-74FE94B6FDB4}" type="slidenum">
              <a:rPr lang="pt-BR" altLang="pt-BR" sz="1000" b="0">
                <a:latin typeface="Times New Roman" panose="02020603050405020304" pitchFamily="18" charset="0"/>
              </a:rPr>
              <a:pPr/>
              <a:t>4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D7AC8E0-1D9A-422C-8DAC-9576F6DC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BEF489D-1B4D-46D8-B138-CDA9BF6E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90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F7AA312-E2CE-405D-9901-C18092B4F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CC861FD-7231-4AA7-8A0B-74FE94B6FDB4}" type="slidenum">
              <a:rPr lang="pt-BR" altLang="pt-BR" sz="1000" b="0">
                <a:latin typeface="Times New Roman" panose="02020603050405020304" pitchFamily="18" charset="0"/>
              </a:rPr>
              <a:pPr/>
              <a:t>5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D7AC8E0-1D9A-422C-8DAC-9576F6DC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BEF489D-1B4D-46D8-B138-CDA9BF6E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37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F7AA312-E2CE-405D-9901-C18092B4F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CC861FD-7231-4AA7-8A0B-74FE94B6FDB4}" type="slidenum">
              <a:rPr lang="pt-BR" altLang="pt-BR" sz="1000" b="0">
                <a:latin typeface="Times New Roman" panose="02020603050405020304" pitchFamily="18" charset="0"/>
              </a:rPr>
              <a:pPr/>
              <a:t>6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D7AC8E0-1D9A-422C-8DAC-9576F6DC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BEF489D-1B4D-46D8-B138-CDA9BF6E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73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F7AA312-E2CE-405D-9901-C18092B4F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4CC861FD-7231-4AA7-8A0B-74FE94B6FDB4}" type="slidenum">
              <a:rPr lang="pt-BR" altLang="pt-BR" sz="1000" b="0">
                <a:latin typeface="Times New Roman" panose="02020603050405020304" pitchFamily="18" charset="0"/>
              </a:rPr>
              <a:pPr/>
              <a:t>7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D7AC8E0-1D9A-422C-8DAC-9576F6DC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BEF489D-1B4D-46D8-B138-CDA9BF6E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03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8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79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9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424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10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497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11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70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12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371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1226E1-1EA1-4DEE-855A-9E0551B49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AB9D6-B287-49AA-B8E6-88FD6D91020B}" type="slidenum">
              <a:rPr lang="pt-BR" altLang="pt-BR" sz="1000" b="0">
                <a:latin typeface="Times New Roman" panose="02020603050405020304" pitchFamily="18" charset="0"/>
              </a:rPr>
              <a:pPr/>
              <a:t>13</a:t>
            </a:fld>
            <a:endParaRPr lang="pt-BR" altLang="pt-BR" sz="10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D6AB12F-484E-41E4-84DD-4431F79AB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FB54804-7B03-4C0C-89B1-C554610B0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86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8377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fld id="{FBE3175A-ED24-4700-9581-11FF8909A9E3}" type="slidenum">
              <a:rPr lang="pt-BR" altLang="pt-BR" sz="1000" b="0" smtClean="0">
                <a:latin typeface="Times New Roman" pitchFamily="18" charset="0"/>
              </a:rPr>
              <a:pPr/>
              <a:t>25</a:t>
            </a:fld>
            <a:endParaRPr lang="pt-BR" altLang="pt-BR" sz="1000" b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691063"/>
            <a:ext cx="4984750" cy="4441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52" tIns="47576" rIns="95152" bIns="47576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0610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950913">
              <a:defRPr sz="3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fld id="{FBE3175A-ED24-4700-9581-11FF8909A9E3}" type="slidenum">
              <a:rPr lang="pt-BR" altLang="pt-BR" sz="1000" b="0" smtClean="0">
                <a:latin typeface="Times New Roman" pitchFamily="18" charset="0"/>
              </a:rPr>
              <a:pPr/>
              <a:t>26</a:t>
            </a:fld>
            <a:endParaRPr lang="pt-BR" altLang="pt-BR" sz="1000" b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691063"/>
            <a:ext cx="4984750" cy="4441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52" tIns="47576" rIns="95152" bIns="47576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253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91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06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28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53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42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8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8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54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29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91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06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BEB5F-F1DE-4FB7-8EF6-F9538A558AE6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10BB8-10F8-41F7-881A-8738544A50A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1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1.m4a"/><Relationship Id="rId7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customXml" Target="../../customXml/item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1.m4a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8" t="4851" r="4287" b="2750"/>
          <a:stretch/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-29817" y="1628800"/>
            <a:ext cx="8064896" cy="1472510"/>
          </a:xfrm>
        </p:spPr>
        <p:txBody>
          <a:bodyPr>
            <a:normAutofit/>
          </a:bodyPr>
          <a:lstStyle/>
          <a:p>
            <a:r>
              <a:rPr lang="pt-BR" sz="3800" b="1" dirty="0" err="1">
                <a:solidFill>
                  <a:schemeClr val="bg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WebConferência</a:t>
            </a:r>
            <a:r>
              <a:rPr lang="pt-BR" sz="3800" b="1" dirty="0">
                <a:solidFill>
                  <a:schemeClr val="bg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 II</a:t>
            </a:r>
            <a:endParaRPr lang="pt-BR" sz="3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835696" y="4068363"/>
            <a:ext cx="356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Arial" charset="0"/>
              </a:rPr>
              <a:t>Francisco </a:t>
            </a:r>
            <a:r>
              <a:rPr lang="pt-BR" dirty="0" err="1">
                <a:solidFill>
                  <a:schemeClr val="bg1"/>
                </a:solidFill>
                <a:latin typeface="Arial" charset="0"/>
              </a:rPr>
              <a:t>Virginio</a:t>
            </a:r>
            <a:r>
              <a:rPr lang="pt-B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charset="0"/>
              </a:rPr>
              <a:t>Maracci</a:t>
            </a:r>
            <a:endParaRPr lang="pt-BR" dirty="0">
              <a:solidFill>
                <a:schemeClr val="bg1"/>
              </a:solidFill>
              <a:latin typeface="Arial" charset="0"/>
            </a:endParaRPr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Áudio 2">
            <a:hlinkClick r:id="" action="ppaction://media"/>
            <a:extLst>
              <a:ext uri="{FF2B5EF4-FFF2-40B4-BE49-F238E27FC236}">
                <a16:creationId xmlns:a16="http://schemas.microsoft.com/office/drawing/2014/main" id="{A499DD13-DEB2-5D2F-58D3-57BD612523E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40738" y="6154738"/>
            <a:ext cx="487362" cy="487362"/>
          </a:xfrm>
          <a:prstGeom prst="rect">
            <a:avLst/>
          </a:prstGeom>
        </p:spPr>
      </p:pic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0281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05"/>
    </mc:Choice>
    <mc:Fallback xmlns="">
      <p:transition spd="slow" advTm="20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3"/>
          <p:cNvSpPr txBox="1">
            <a:spLocks/>
          </p:cNvSpPr>
          <p:nvPr/>
        </p:nvSpPr>
        <p:spPr>
          <a:xfrm>
            <a:off x="0" y="0"/>
            <a:ext cx="9144000" cy="136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 err="1">
                <a:latin typeface="Arial" pitchFamily="34" charset="0"/>
                <a:ea typeface="Roboto" pitchFamily="2" charset="0"/>
                <a:cs typeface="Arial" pitchFamily="34" charset="0"/>
              </a:rPr>
              <a:t>WebConferência</a:t>
            </a:r>
            <a:r>
              <a:rPr lang="pt-BR" b="1" dirty="0">
                <a:latin typeface="Arial" pitchFamily="34" charset="0"/>
                <a:ea typeface="Roboto" pitchFamily="2" charset="0"/>
                <a:cs typeface="Arial" pitchFamily="34" charset="0"/>
              </a:rPr>
              <a:t> II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5436096" y="1023817"/>
            <a:ext cx="3697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Arial" charset="0"/>
              </a:rPr>
              <a:t>Francisco Virginio Maracci</a:t>
            </a:r>
          </a:p>
          <a:p>
            <a:pPr algn="ctr"/>
            <a:endParaRPr lang="pt-BR" sz="2000" dirty="0"/>
          </a:p>
        </p:txBody>
      </p:sp>
      <p:pic>
        <p:nvPicPr>
          <p:cNvPr id="2050" name="Picture 2" descr="Nuvem Bem-vinda Da Palavra Em Línguas Diferentes Ilustração Stock -  Ilustração de internacional, dinamarquês: 116897606">
            <a:extLst>
              <a:ext uri="{FF2B5EF4-FFF2-40B4-BE49-F238E27FC236}">
                <a16:creationId xmlns:a16="http://schemas.microsoft.com/office/drawing/2014/main" id="{8D4FF71E-4514-C853-0682-52093ED87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5887"/>
            <a:ext cx="76200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 rot="20474389">
            <a:off x="4285309" y="5507026"/>
            <a:ext cx="5000153" cy="834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3600" dirty="0"/>
              <a:t>Aguarde. Já iniciaremos.</a:t>
            </a:r>
          </a:p>
        </p:txBody>
      </p:sp>
    </p:spTree>
    <p:extLst>
      <p:ext uri="{BB962C8B-B14F-4D97-AF65-F5344CB8AC3E}">
        <p14:creationId xmlns:p14="http://schemas.microsoft.com/office/powerpoint/2010/main" val="108512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7A78B-C7B2-4237-9F43-D75AB67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9AB35-530C-455F-A74C-BC9BF2CCF588}" type="slidenum">
              <a:rPr lang="pt-BR" altLang="pt-BR" sz="1050" b="0">
                <a:latin typeface="Arial" panose="020B0604020202020204" pitchFamily="34" charset="0"/>
              </a:rPr>
              <a:pPr/>
              <a:t>3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433B093-1CAA-4297-9807-42AB47668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02680"/>
            <a:ext cx="8424936" cy="268016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Requisitos de Interface Externa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Interfaces do Usuário</a:t>
            </a:r>
          </a:p>
          <a:p>
            <a:pPr lvl="1">
              <a:lnSpc>
                <a:spcPct val="90000"/>
              </a:lnSpc>
              <a:buNone/>
            </a:pPr>
            <a:endParaRPr lang="pt-BR" sz="1900" dirty="0"/>
          </a:p>
          <a:p>
            <a:pPr lvl="1">
              <a:lnSpc>
                <a:spcPct val="90000"/>
              </a:lnSpc>
              <a:buNone/>
            </a:pPr>
            <a:r>
              <a:rPr lang="pt-BR" sz="1900" dirty="0"/>
              <a:t>Descreve em linhas gerais como é a interação do usuário com o sistema. Arquitetura da informação, padrões de cores, etc.</a:t>
            </a:r>
          </a:p>
          <a:p>
            <a:pPr lvl="1">
              <a:lnSpc>
                <a:spcPct val="90000"/>
              </a:lnSpc>
              <a:buNone/>
            </a:pPr>
            <a:endParaRPr lang="pt-BR" sz="1900" dirty="0"/>
          </a:p>
          <a:p>
            <a:pPr lvl="1">
              <a:lnSpc>
                <a:spcPct val="90000"/>
              </a:lnSpc>
              <a:buNone/>
            </a:pPr>
            <a:r>
              <a:rPr lang="pt-BR" sz="1900" dirty="0"/>
              <a:t>	 	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1EAA2F2-D104-492F-86E4-FC41EA75B5F0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Requisitos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091640943"/>
      </p:ext>
    </p:extLst>
  </p:cSld>
  <p:clrMapOvr>
    <a:masterClrMapping/>
  </p:clrMapOvr>
  <p:transition advTm="10405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7A78B-C7B2-4237-9F43-D75AB67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9AB35-530C-455F-A74C-BC9BF2CCF588}" type="slidenum">
              <a:rPr lang="pt-BR" altLang="pt-BR" sz="1050" b="0">
                <a:latin typeface="Arial" panose="020B0604020202020204" pitchFamily="34" charset="0"/>
              </a:rPr>
              <a:pPr/>
              <a:t>4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433B093-1CAA-4297-9807-42AB47668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32" y="2015222"/>
            <a:ext cx="8424936" cy="268016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Requisitos de Interface Externa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Interfaces de Software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sz="19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Descreve os software e suas versões necessários para o desenvolvimento do sistema e os necessários para que o mesmo funcione na máquina do cliente.</a:t>
            </a:r>
          </a:p>
          <a:p>
            <a:pPr lvl="1">
              <a:lnSpc>
                <a:spcPct val="90000"/>
              </a:lnSpc>
              <a:buNone/>
            </a:pPr>
            <a:endParaRPr lang="pt-BR" sz="1900" dirty="0"/>
          </a:p>
          <a:p>
            <a:pPr lvl="1">
              <a:lnSpc>
                <a:spcPct val="90000"/>
              </a:lnSpc>
              <a:buNone/>
            </a:pPr>
            <a:r>
              <a:rPr lang="pt-BR" sz="1900" dirty="0"/>
              <a:t>	 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44AB4-D85D-6B88-9BF8-C7568CF4A35E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Requisitos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16624584"/>
      </p:ext>
    </p:extLst>
  </p:cSld>
  <p:clrMapOvr>
    <a:masterClrMapping/>
  </p:clrMapOvr>
  <p:transition advTm="5533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7A78B-C7B2-4237-9F43-D75AB67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9AB35-530C-455F-A74C-BC9BF2CCF588}" type="slidenum">
              <a:rPr lang="pt-BR" altLang="pt-BR" sz="1050" b="0">
                <a:latin typeface="Arial" panose="020B0604020202020204" pitchFamily="34" charset="0"/>
              </a:rPr>
              <a:pPr/>
              <a:t>5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433B093-1CAA-4297-9807-42AB47668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32" y="2015222"/>
            <a:ext cx="8424936" cy="268016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Requisitos de Interface Externa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Interfaces de Sistema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sz="19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Descreve a interação do sistema com um outro sistema externo caso exista.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Exemplo: comunicação com sistema da receita federal para envio de notas fiscais.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Como é feita e onde encontrar essa informação em detalhes.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EB063-2BA9-252D-8BEA-C4D14C1AF8C8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Requisitos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1828568617"/>
      </p:ext>
    </p:extLst>
  </p:cSld>
  <p:clrMapOvr>
    <a:masterClrMapping/>
  </p:clrMapOvr>
  <p:transition advTm="54846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7A78B-C7B2-4237-9F43-D75AB67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9AB35-530C-455F-A74C-BC9BF2CCF588}" type="slidenum">
              <a:rPr lang="pt-BR" altLang="pt-BR" sz="1050" b="0">
                <a:latin typeface="Arial" panose="020B0604020202020204" pitchFamily="34" charset="0"/>
              </a:rPr>
              <a:pPr/>
              <a:t>6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433B093-1CAA-4297-9807-42AB47668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32" y="2015222"/>
            <a:ext cx="8424936" cy="268016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Requisitos de Interface Externa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Interfaces de Hardware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sz="19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Descreve a interação do sistema com um hardware específico que não seja </a:t>
            </a:r>
            <a:r>
              <a:rPr lang="pt-BR" sz="1900" b="1" dirty="0"/>
              <a:t>plug &amp; play. </a:t>
            </a:r>
            <a:r>
              <a:rPr lang="pt-BR" sz="1900" dirty="0"/>
              <a:t>Ou seja, que necessita de codificação para o funcionamento.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B51454-4F1C-7A63-05E2-F20496995C2F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Requisitos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57858705"/>
      </p:ext>
    </p:extLst>
  </p:cSld>
  <p:clrMapOvr>
    <a:masterClrMapping/>
  </p:clrMapOvr>
  <p:transition advTm="95646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7A78B-C7B2-4237-9F43-D75AB67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A69AB35-530C-455F-A74C-BC9BF2CCF588}" type="slidenum">
              <a:rPr lang="pt-BR" altLang="pt-BR" sz="1050" b="0">
                <a:latin typeface="Arial" panose="020B0604020202020204" pitchFamily="34" charset="0"/>
              </a:rPr>
              <a:pPr/>
              <a:t>7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433B093-1CAA-4297-9807-42AB47668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32" y="2015222"/>
            <a:ext cx="8424936" cy="268016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Requisitos de Interface Externa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Interfaces de Comunicação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sz="19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sz="1900" dirty="0"/>
              <a:t>Especifica como é a comunicação do sistema em rede (local ou internet). Quais protocolos são necessários. Etc.</a:t>
            </a:r>
          </a:p>
          <a:p>
            <a:pPr lvl="1">
              <a:lnSpc>
                <a:spcPct val="90000"/>
              </a:lnSpc>
              <a:buNone/>
            </a:pPr>
            <a:r>
              <a:rPr lang="pt-BR" sz="1900" dirty="0"/>
              <a:t>	 			</a:t>
            </a:r>
          </a:p>
          <a:p>
            <a:pPr lvl="1">
              <a:lnSpc>
                <a:spcPct val="90000"/>
              </a:lnSpc>
              <a:buNone/>
            </a:pPr>
            <a:r>
              <a:rPr lang="pt-BR" sz="1900" dirty="0"/>
              <a:t>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DF8552-C70B-B0CE-99D4-427A0171A919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Requisitos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3432592683"/>
      </p:ext>
    </p:extLst>
  </p:cSld>
  <p:clrMapOvr>
    <a:masterClrMapping/>
  </p:clrMapOvr>
  <p:transition advTm="5043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8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315DD17-6653-487F-8D15-7DC29B5C6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0364" y="1412776"/>
            <a:ext cx="8363272" cy="3808462"/>
          </a:xfrm>
        </p:spPr>
        <p:txBody>
          <a:bodyPr>
            <a:normAutofit/>
          </a:bodyPr>
          <a:lstStyle/>
          <a:p>
            <a:pPr marL="400050" indent="-400050" algn="ctr">
              <a:buNone/>
            </a:pPr>
            <a:endParaRPr lang="pt-BR" altLang="pt-BR" sz="1900" b="1" dirty="0"/>
          </a:p>
          <a:p>
            <a:pPr marL="400050" indent="-400050" algn="ctr">
              <a:buNone/>
            </a:pPr>
            <a:r>
              <a:rPr lang="pt-BR" altLang="pt-BR" sz="1900" dirty="0"/>
              <a:t>Inserir nesse espaço demais requisitos não pertencentes aos itens da seção  3.2 e que não são requisitos funcionais.</a:t>
            </a:r>
          </a:p>
          <a:p>
            <a:pPr marL="400050" indent="-400050" algn="ctr">
              <a:buNone/>
            </a:pPr>
            <a:r>
              <a:rPr lang="pt-BR" altLang="pt-BR" sz="1900" dirty="0"/>
              <a:t>Exemplo: restrições do projeto quanto a hardware mínimo necessário, normas e padrões, requisitos legais e éticos a serem cumpridos, requisitos de qualidade (usabilidade, portabilidade, ...).</a:t>
            </a:r>
          </a:p>
          <a:p>
            <a:pPr marL="542925" lvl="1" indent="-200025">
              <a:buNone/>
            </a:pPr>
            <a:endParaRPr lang="pt-BR" altLang="pt-BR" sz="1900" b="1" dirty="0"/>
          </a:p>
          <a:p>
            <a:pPr marL="542925" lvl="1" indent="-200025">
              <a:buNone/>
            </a:pPr>
            <a:endParaRPr lang="pt-BR" altLang="pt-BR" sz="1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Outros Requisitos</a:t>
            </a:r>
          </a:p>
        </p:txBody>
      </p:sp>
    </p:spTree>
    <p:extLst>
      <p:ext uri="{BB962C8B-B14F-4D97-AF65-F5344CB8AC3E}">
        <p14:creationId xmlns:p14="http://schemas.microsoft.com/office/powerpoint/2010/main" val="3133293884"/>
      </p:ext>
    </p:extLst>
  </p:cSld>
  <p:clrMapOvr>
    <a:masterClrMapping/>
  </p:clrMapOvr>
  <p:transition advTm="6984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9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315DD17-6653-487F-8D15-7DC29B5C6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0364" y="1412776"/>
            <a:ext cx="8363272" cy="3808462"/>
          </a:xfrm>
        </p:spPr>
        <p:txBody>
          <a:bodyPr>
            <a:noAutofit/>
          </a:bodyPr>
          <a:lstStyle/>
          <a:p>
            <a:pPr algn="ctr"/>
            <a:endParaRPr lang="pt-BR" altLang="pt-BR" sz="2200" b="1" dirty="0"/>
          </a:p>
          <a:p>
            <a:pPr marL="628650" lvl="1"/>
            <a:r>
              <a:rPr lang="pt-BR" sz="2200" dirty="0"/>
              <a:t>Um dos diagramas da visão comportamental da UML</a:t>
            </a:r>
          </a:p>
          <a:p>
            <a:pPr marL="628650" lvl="1"/>
            <a:r>
              <a:rPr lang="pt-BR" sz="2200" dirty="0"/>
              <a:t>Mostra as atividades realizadas para executar um caso de uso</a:t>
            </a:r>
          </a:p>
          <a:p>
            <a:pPr marL="628650" lvl="1"/>
            <a:r>
              <a:rPr lang="pt-BR" sz="2200" dirty="0"/>
              <a:t>Permite uma revisão das descrições dos casos de uso e do diagrama de casos de uso</a:t>
            </a:r>
          </a:p>
          <a:p>
            <a:pPr marL="628650" lvl="1"/>
            <a:r>
              <a:rPr lang="pt-BR" sz="2200" dirty="0"/>
              <a:t>Refinamento do modelo de casos de uso</a:t>
            </a:r>
          </a:p>
          <a:p>
            <a:pPr marL="628650" lvl="1"/>
            <a:r>
              <a:rPr lang="pt-BR" sz="2200" dirty="0"/>
              <a:t>Utilizado para melhor detalhar um caso de uso complexo do sistema</a:t>
            </a:r>
          </a:p>
          <a:p>
            <a:pPr marL="1028700" lvl="2"/>
            <a:r>
              <a:rPr lang="pt-BR" sz="2200" dirty="0"/>
              <a:t>Casos de uso que exista paralelismo</a:t>
            </a:r>
          </a:p>
          <a:p>
            <a:pPr marL="1028700" lvl="2"/>
            <a:r>
              <a:rPr lang="pt-BR" sz="2200" dirty="0"/>
              <a:t>Atividades executadas em paralelo</a:t>
            </a:r>
            <a:endParaRPr lang="pt-BR" altLang="pt-BR" sz="2200" b="1" dirty="0"/>
          </a:p>
          <a:p>
            <a:pPr marL="685800" lvl="1" indent="-342900"/>
            <a:endParaRPr lang="pt-BR" altLang="pt-BR" sz="2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Diagrama de Atividades</a:t>
            </a:r>
          </a:p>
        </p:txBody>
      </p:sp>
    </p:spTree>
    <p:extLst>
      <p:ext uri="{BB962C8B-B14F-4D97-AF65-F5344CB8AC3E}">
        <p14:creationId xmlns:p14="http://schemas.microsoft.com/office/powerpoint/2010/main" val="3125614580"/>
      </p:ext>
    </p:extLst>
  </p:cSld>
  <p:clrMapOvr>
    <a:masterClrMapping/>
  </p:clrMapOvr>
  <p:transition advTm="6984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10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Diagrama de Atividades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A0EED4-AD70-772D-4EA4-721F56FEA9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8" t="27600" r="23226" b="19200"/>
          <a:stretch/>
        </p:blipFill>
        <p:spPr>
          <a:xfrm>
            <a:off x="179512" y="857250"/>
            <a:ext cx="8784976" cy="48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96596"/>
      </p:ext>
    </p:extLst>
  </p:cSld>
  <p:clrMapOvr>
    <a:masterClrMapping/>
  </p:clrMapOvr>
  <p:transition advTm="6984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11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Diagrama de Atividades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676C11-5F6B-07F8-FD8B-A583F8F1E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8" t="22001" r="23226" b="20600"/>
          <a:stretch/>
        </p:blipFill>
        <p:spPr>
          <a:xfrm>
            <a:off x="179512" y="654472"/>
            <a:ext cx="8784976" cy="52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47429"/>
      </p:ext>
    </p:extLst>
  </p:cSld>
  <p:clrMapOvr>
    <a:masterClrMapping/>
  </p:clrMapOvr>
  <p:transition advTm="6984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12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Diagrama de Atividades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8D5F22-FF6A-9549-982F-8220A45057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8" t="28344" r="23225" b="19857"/>
          <a:stretch/>
        </p:blipFill>
        <p:spPr>
          <a:xfrm>
            <a:off x="106524" y="764704"/>
            <a:ext cx="8929972" cy="47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20522"/>
      </p:ext>
    </p:extLst>
  </p:cSld>
  <p:clrMapOvr>
    <a:masterClrMapping/>
  </p:clrMapOvr>
  <p:transition advTm="6984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9EF5EF-FD3C-43AF-ADF2-7FEBCE0C4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9765E5D-67D6-4192-9EA7-FCCD0A7ECA6A}" type="slidenum">
              <a:rPr lang="pt-BR" altLang="pt-BR" sz="1050" b="0">
                <a:latin typeface="Arial" panose="020B0604020202020204" pitchFamily="34" charset="0"/>
              </a:rPr>
              <a:pPr/>
              <a:t>13</a:t>
            </a:fld>
            <a:endParaRPr lang="pt-BR" altLang="pt-BR" sz="1050" b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5DC881-273D-6ABB-EEB3-51D36B5FD10C}"/>
              </a:ext>
            </a:extLst>
          </p:cNvPr>
          <p:cNvSpPr txBox="1">
            <a:spLocks noChangeArrowheads="1"/>
          </p:cNvSpPr>
          <p:nvPr/>
        </p:nvSpPr>
        <p:spPr>
          <a:xfrm>
            <a:off x="359532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altLang="pt-BR" sz="2100" dirty="0"/>
              <a:t>Diagrama de Atividades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EAA0C5-059E-FC41-C47E-8F9143C1B8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8" t="33202" r="23226" b="5200"/>
          <a:stretch/>
        </p:blipFill>
        <p:spPr>
          <a:xfrm>
            <a:off x="179512" y="692696"/>
            <a:ext cx="8856984" cy="564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43417"/>
      </p:ext>
    </p:extLst>
  </p:cSld>
  <p:clrMapOvr>
    <a:masterClrMapping/>
  </p:clrMapOvr>
  <p:transition advTm="6984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>
            <a:spLocks noGrp="1"/>
          </p:cNvSpPr>
          <p:nvPr>
            <p:ph type="body" idx="1"/>
          </p:nvPr>
        </p:nvSpPr>
        <p:spPr>
          <a:xfrm>
            <a:off x="0" y="1142984"/>
            <a:ext cx="9144000" cy="57150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lvl="1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Feito</a:t>
            </a:r>
            <a:r>
              <a:rPr lang="en-GB" sz="2600" dirty="0">
                <a:latin typeface="Calibri"/>
                <a:cs typeface="Calibri"/>
                <a:sym typeface="Calibri"/>
              </a:rPr>
              <a:t> para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cada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caso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uso</a:t>
            </a:r>
            <a:r>
              <a:rPr lang="en-GB" sz="2600" dirty="0">
                <a:latin typeface="Calibri"/>
                <a:cs typeface="Calibri"/>
                <a:sym typeface="Calibri"/>
              </a:rPr>
              <a:t> do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diagrama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caso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uso</a:t>
            </a:r>
            <a:endParaRPr lang="en-GB" sz="2600" dirty="0">
              <a:latin typeface="Calibri"/>
              <a:cs typeface="Calibri"/>
              <a:sym typeface="Calibri"/>
            </a:endParaRPr>
          </a:p>
          <a:p>
            <a:pPr lvl="1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Descreve</a:t>
            </a:r>
            <a:r>
              <a:rPr lang="en-GB" sz="2600" dirty="0">
                <a:latin typeface="Calibri"/>
                <a:cs typeface="Calibri"/>
                <a:sym typeface="Calibri"/>
              </a:rPr>
              <a:t> 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passo</a:t>
            </a:r>
            <a:r>
              <a:rPr lang="en-GB" sz="2600" dirty="0">
                <a:latin typeface="Calibri"/>
                <a:cs typeface="Calibri"/>
                <a:sym typeface="Calibri"/>
              </a:rPr>
              <a:t> a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passo</a:t>
            </a:r>
            <a:r>
              <a:rPr lang="en-GB" sz="2600" dirty="0">
                <a:latin typeface="Calibri"/>
                <a:cs typeface="Calibri"/>
                <a:sym typeface="Calibri"/>
              </a:rPr>
              <a:t> para que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seja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realizado</a:t>
            </a:r>
            <a:r>
              <a:rPr lang="en-GB" sz="2600" dirty="0">
                <a:latin typeface="Calibri"/>
                <a:cs typeface="Calibri"/>
                <a:sym typeface="Calibri"/>
              </a:rPr>
              <a:t> um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processo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organizacional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</a:p>
          <a:p>
            <a:pPr lvl="2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Passos</a:t>
            </a:r>
            <a:r>
              <a:rPr lang="en-GB" sz="2600" dirty="0">
                <a:latin typeface="Calibri"/>
                <a:cs typeface="Calibri"/>
                <a:sym typeface="Calibri"/>
              </a:rPr>
              <a:t> do “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caminho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feliz</a:t>
            </a:r>
            <a:r>
              <a:rPr lang="en-GB" sz="2600" dirty="0">
                <a:latin typeface="Calibri"/>
                <a:cs typeface="Calibri"/>
                <a:sym typeface="Calibri"/>
              </a:rPr>
              <a:t>”</a:t>
            </a:r>
          </a:p>
          <a:p>
            <a:pPr lvl="2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Passos</a:t>
            </a:r>
            <a:r>
              <a:rPr lang="en-GB" sz="2600" dirty="0">
                <a:latin typeface="Calibri"/>
                <a:cs typeface="Calibri"/>
                <a:sym typeface="Calibri"/>
              </a:rPr>
              <a:t> do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controle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excessões</a:t>
            </a:r>
            <a:endParaRPr lang="en-GB" sz="2600" dirty="0">
              <a:latin typeface="Calibri"/>
              <a:cs typeface="Calibri"/>
              <a:sym typeface="Calibri"/>
            </a:endParaRPr>
          </a:p>
          <a:p>
            <a:pPr lvl="1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Detalha</a:t>
            </a:r>
            <a:r>
              <a:rPr lang="en-GB" sz="2600" dirty="0">
                <a:latin typeface="Calibri"/>
                <a:cs typeface="Calibri"/>
                <a:sym typeface="Calibri"/>
              </a:rPr>
              <a:t> 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funcionamento</a:t>
            </a:r>
            <a:r>
              <a:rPr lang="en-GB" sz="2600" dirty="0">
                <a:latin typeface="Calibri"/>
                <a:cs typeface="Calibri"/>
                <a:sym typeface="Calibri"/>
              </a:rPr>
              <a:t> de um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determinado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caso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uso</a:t>
            </a:r>
            <a:endParaRPr lang="en-GB" sz="2600" dirty="0">
              <a:latin typeface="Calibri"/>
              <a:cs typeface="Calibri"/>
              <a:sym typeface="Calibri"/>
            </a:endParaRPr>
          </a:p>
          <a:p>
            <a:pPr lvl="1" algn="just">
              <a:spcBef>
                <a:spcPts val="440"/>
              </a:spcBef>
              <a:buClr>
                <a:schemeClr val="dk1"/>
              </a:buClr>
              <a:buSzPts val="2200"/>
            </a:pPr>
            <a:r>
              <a:rPr lang="en-GB" sz="2600" dirty="0" err="1">
                <a:latin typeface="Calibri"/>
                <a:cs typeface="Calibri"/>
                <a:sym typeface="Calibri"/>
              </a:rPr>
              <a:t>Demonstra</a:t>
            </a:r>
            <a:r>
              <a:rPr lang="en-GB" sz="2600" dirty="0">
                <a:latin typeface="Calibri"/>
                <a:cs typeface="Calibri"/>
                <a:sym typeface="Calibri"/>
              </a:rPr>
              <a:t> a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interação</a:t>
            </a:r>
            <a:r>
              <a:rPr lang="en-GB" sz="2600" dirty="0">
                <a:latin typeface="Calibri"/>
                <a:cs typeface="Calibri"/>
                <a:sym typeface="Calibri"/>
              </a:rPr>
              <a:t> entre 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ator</a:t>
            </a:r>
            <a:r>
              <a:rPr lang="en-GB" sz="2600" dirty="0">
                <a:latin typeface="Calibri"/>
                <a:cs typeface="Calibri"/>
                <a:sym typeface="Calibri"/>
              </a:rPr>
              <a:t> e o Sistema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7A47F0-D82A-0B47-C715-C898DBFC726F}"/>
              </a:ext>
            </a:extLst>
          </p:cNvPr>
          <p:cNvSpPr txBox="1"/>
          <p:nvPr/>
        </p:nvSpPr>
        <p:spPr>
          <a:xfrm>
            <a:off x="323528" y="188640"/>
            <a:ext cx="8640960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defPPr>
              <a:defRPr lang="pt-BR"/>
            </a:defPPr>
            <a:lvl1pPr algn="ctr">
              <a:spcBef>
                <a:spcPct val="0"/>
              </a:spcBef>
              <a:buNone/>
              <a:defRPr sz="4400">
                <a:solidFill>
                  <a:srgbClr val="F39300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pt-BR" dirty="0"/>
              <a:t>Especificação de casos de uso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BB0B54-4BCB-7438-D71C-B5B3FA9FC0CD}"/>
              </a:ext>
            </a:extLst>
          </p:cNvPr>
          <p:cNvSpPr txBox="1"/>
          <p:nvPr/>
        </p:nvSpPr>
        <p:spPr>
          <a:xfrm>
            <a:off x="971600" y="4437112"/>
            <a:ext cx="6984776" cy="19389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pt-BR" sz="2400" b="1" dirty="0"/>
          </a:p>
          <a:p>
            <a:pPr algn="ctr"/>
            <a:r>
              <a:rPr lang="pt-BR" sz="2400" dirty="0"/>
              <a:t>Possui um formato especifico de preenchimento.</a:t>
            </a:r>
          </a:p>
          <a:p>
            <a:pPr algn="ctr"/>
            <a:r>
              <a:rPr lang="pt-BR" sz="2400" dirty="0"/>
              <a:t>Usamos o formato proposto por </a:t>
            </a:r>
            <a:r>
              <a:rPr lang="pt-BR" sz="2400" dirty="0" err="1"/>
              <a:t>Larman</a:t>
            </a:r>
            <a:r>
              <a:rPr lang="pt-BR" sz="2400" dirty="0"/>
              <a:t> (2007)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Existe outros formatos.</a:t>
            </a:r>
          </a:p>
        </p:txBody>
      </p:sp>
    </p:spTree>
    <p:extLst>
      <p:ext uri="{BB962C8B-B14F-4D97-AF65-F5344CB8AC3E}">
        <p14:creationId xmlns:p14="http://schemas.microsoft.com/office/powerpoint/2010/main" val="1214671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AE295-036B-4186-A05F-F3D1CDB946C7}"/>
              </a:ext>
            </a:extLst>
          </p:cNvPr>
          <p:cNvSpPr txBox="1"/>
          <p:nvPr/>
        </p:nvSpPr>
        <p:spPr>
          <a:xfrm>
            <a:off x="107504" y="1916582"/>
            <a:ext cx="8496944" cy="37856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pt-BR" sz="2400" b="1" dirty="0"/>
          </a:p>
          <a:p>
            <a:r>
              <a:rPr lang="pt-BR" sz="2400" b="1" dirty="0"/>
              <a:t>Caso de uso: </a:t>
            </a:r>
            <a:r>
              <a:rPr lang="pt-BR" sz="2400" dirty="0"/>
              <a:t>nome do caso de uso (mesmo da lista de função e do diagrama de caso de uso)</a:t>
            </a:r>
          </a:p>
          <a:p>
            <a:endParaRPr lang="pt-BR" sz="2400" dirty="0"/>
          </a:p>
          <a:p>
            <a:r>
              <a:rPr lang="pt-BR" sz="2400" b="1" dirty="0"/>
              <a:t>atores: </a:t>
            </a:r>
            <a:r>
              <a:rPr lang="pt-BR" sz="2400" dirty="0"/>
              <a:t>o mesmo ator do diagrama de caso de uso</a:t>
            </a:r>
          </a:p>
          <a:p>
            <a:endParaRPr lang="pt-BR" sz="2400" dirty="0"/>
          </a:p>
          <a:p>
            <a:r>
              <a:rPr lang="pt-BR" sz="2400" b="1" dirty="0"/>
              <a:t>referências: </a:t>
            </a:r>
            <a:r>
              <a:rPr lang="pt-BR" sz="2400" dirty="0"/>
              <a:t>mesmas referências da lista de funções (referência do próprio caso de uso e dos casos de uso que ele efetua uma chamada por include ou </a:t>
            </a:r>
            <a:r>
              <a:rPr lang="pt-BR" sz="2400" dirty="0" err="1"/>
              <a:t>extends</a:t>
            </a:r>
            <a:r>
              <a:rPr lang="pt-BR" sz="2400" dirty="0"/>
              <a:t>)</a:t>
            </a:r>
          </a:p>
          <a:p>
            <a:endParaRPr lang="pt-BR" sz="2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74BE9C8-429B-0C57-82DD-7DCDDD3245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</p:spTree>
    <p:extLst>
      <p:ext uri="{BB962C8B-B14F-4D97-AF65-F5344CB8AC3E}">
        <p14:creationId xmlns:p14="http://schemas.microsoft.com/office/powerpoint/2010/main" val="32700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AE295-036B-4186-A05F-F3D1CDB946C7}"/>
              </a:ext>
            </a:extLst>
          </p:cNvPr>
          <p:cNvSpPr txBox="1"/>
          <p:nvPr/>
        </p:nvSpPr>
        <p:spPr>
          <a:xfrm>
            <a:off x="107504" y="1916582"/>
            <a:ext cx="8496944" cy="3046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pt-BR" sz="2400" b="1" dirty="0"/>
          </a:p>
          <a:p>
            <a:r>
              <a:rPr lang="pt-BR" sz="2400" b="1" dirty="0"/>
              <a:t>Breve descrição: </a:t>
            </a:r>
            <a:r>
              <a:rPr lang="pt-BR" sz="2400" dirty="0"/>
              <a:t>uma descrição completa/resumida do fluxo correto das ações.</a:t>
            </a:r>
          </a:p>
          <a:p>
            <a:endParaRPr lang="pt-BR" sz="2400" dirty="0"/>
          </a:p>
          <a:p>
            <a:r>
              <a:rPr lang="pt-BR" sz="2400" b="1" dirty="0"/>
              <a:t>Requisitos especiais: </a:t>
            </a:r>
            <a:r>
              <a:rPr lang="pt-BR" sz="2400" dirty="0"/>
              <a:t>requisitos não funcionais aplicado ao caso de uso (usabilidade, tolerância a falhas por transação em banco de dados, segurança com protocolo seguro, </a:t>
            </a:r>
            <a:r>
              <a:rPr lang="pt-BR" sz="2400" dirty="0" err="1"/>
              <a:t>etc</a:t>
            </a:r>
            <a:r>
              <a:rPr lang="pt-BR" sz="2400" dirty="0"/>
              <a:t>)</a:t>
            </a:r>
          </a:p>
          <a:p>
            <a:endParaRPr lang="pt-BR" sz="24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1CDE26B-31C2-AA84-A136-9260D65A8C9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</p:spTree>
    <p:extLst>
      <p:ext uri="{BB962C8B-B14F-4D97-AF65-F5344CB8AC3E}">
        <p14:creationId xmlns:p14="http://schemas.microsoft.com/office/powerpoint/2010/main" val="344652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AE295-036B-4186-A05F-F3D1CDB946C7}"/>
              </a:ext>
            </a:extLst>
          </p:cNvPr>
          <p:cNvSpPr txBox="1"/>
          <p:nvPr/>
        </p:nvSpPr>
        <p:spPr>
          <a:xfrm>
            <a:off x="107504" y="1916582"/>
            <a:ext cx="8496944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b="1" dirty="0"/>
              <a:t>pré-condições: </a:t>
            </a:r>
            <a:r>
              <a:rPr lang="pt-BR" sz="2400" dirty="0"/>
              <a:t>condições que devem existir obrigatoriamente antes que o caso de uso inicie</a:t>
            </a:r>
          </a:p>
          <a:p>
            <a:endParaRPr lang="pt-BR" sz="2400" dirty="0"/>
          </a:p>
          <a:p>
            <a:r>
              <a:rPr lang="pt-BR" sz="2400" b="1" dirty="0"/>
              <a:t>pós-condições/garantia de sucesso: </a:t>
            </a:r>
            <a:r>
              <a:rPr lang="pt-BR" sz="2400" dirty="0"/>
              <a:t>condições que devem obrigatoriamente serem atendidas após o caso de uso ser encerrado</a:t>
            </a:r>
            <a:r>
              <a:rPr lang="pt-BR" sz="2400" b="1" dirty="0"/>
              <a:t> </a:t>
            </a:r>
            <a:endParaRPr lang="pt-BR" sz="24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D0111BF-8AB5-A0BB-60E1-295AD136D51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</p:spTree>
    <p:extLst>
      <p:ext uri="{BB962C8B-B14F-4D97-AF65-F5344CB8AC3E}">
        <p14:creationId xmlns:p14="http://schemas.microsoft.com/office/powerpoint/2010/main" val="4178817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3C528DF-A402-4810-A34C-36557354D356}"/>
              </a:ext>
            </a:extLst>
          </p:cNvPr>
          <p:cNvSpPr txBox="1"/>
          <p:nvPr/>
        </p:nvSpPr>
        <p:spPr>
          <a:xfrm>
            <a:off x="467544" y="1143000"/>
            <a:ext cx="8208912" cy="41703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r>
              <a:rPr lang="pt-BR" sz="2000" dirty="0"/>
              <a:t>Fluxo normal/básico/caminho feliz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Apresenta o passo a passo da interação entre o ator e o caso de uso para realizar a operação com </a:t>
            </a:r>
            <a:r>
              <a:rPr lang="pt-BR" sz="2000" b="0" i="1" dirty="0"/>
              <a:t>sucesso. As exceções não são aqui tratadas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Segue uma interativo de ações ator-&gt;sistema-&gt;ator-&gt;sistema, salvo em caso de uma estrutura de repetição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Não deve descrever a interação com elementos de tela dando uma solução de tecnologia. </a:t>
            </a:r>
            <a:r>
              <a:rPr lang="pt-BR" sz="2000" b="0" dirty="0" err="1"/>
              <a:t>Ex</a:t>
            </a:r>
            <a:r>
              <a:rPr lang="pt-BR" sz="2000" b="0" dirty="0"/>
              <a:t>: ator clica em algo, ator escolhe no </a:t>
            </a:r>
            <a:r>
              <a:rPr lang="pt-BR" sz="2000" b="0" dirty="0" err="1"/>
              <a:t>combobox</a:t>
            </a:r>
            <a:r>
              <a:rPr lang="pt-BR" sz="2000" b="0" dirty="0"/>
              <a:t> um determinado valor ...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Exemplo: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700" b="0" i="1" dirty="0"/>
              <a:t>Ator informa dados do cliente</a:t>
            </a:r>
          </a:p>
          <a:p>
            <a:r>
              <a:rPr lang="pt-BR" sz="1700" b="0" i="1" dirty="0"/>
              <a:t>a) CPF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pt-BR" sz="1700" b="0" i="1" dirty="0"/>
              <a:t>Sistema valida os dados e iniciar o processo de venda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pt-BR" sz="1700" b="0" i="1" dirty="0"/>
              <a:t>Ator informa o produto que deseja incluir na venda e quantidade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pt-BR" sz="1700" b="0" i="1" dirty="0"/>
              <a:t>Sistema ..............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27AF546-475F-9254-8576-F922190467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EEE1E3-B143-9051-8EE6-CABCDC535536}"/>
              </a:ext>
            </a:extLst>
          </p:cNvPr>
          <p:cNvSpPr txBox="1"/>
          <p:nvPr/>
        </p:nvSpPr>
        <p:spPr>
          <a:xfrm>
            <a:off x="683568" y="5373216"/>
            <a:ext cx="7992888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pPr algn="ctr"/>
            <a:r>
              <a:rPr lang="pt-BR" sz="1700" i="1" u="sng" dirty="0"/>
              <a:t>Chamada a outro caso de uso:</a:t>
            </a:r>
          </a:p>
          <a:p>
            <a:r>
              <a:rPr lang="pt-BR" sz="1700" b="0" i="1" dirty="0"/>
              <a:t>Quando um caso de uso faz referência/chamada a outro caso de uso (include ou </a:t>
            </a:r>
            <a:r>
              <a:rPr lang="pt-BR" sz="1700" b="0" i="1" dirty="0" err="1"/>
              <a:t>extends</a:t>
            </a:r>
            <a:r>
              <a:rPr lang="pt-BR" sz="1700" b="0" i="1" dirty="0"/>
              <a:t>) utilizamos o seguinte padrão de frase (exemplo para atualização de estoque):</a:t>
            </a:r>
          </a:p>
          <a:p>
            <a:pPr algn="ctr"/>
            <a:r>
              <a:rPr lang="pt-BR" sz="1700" b="0" i="1" dirty="0"/>
              <a:t>... sistema realiza/executa o caso de uso atualizar o estoque (RF_F3) e ...</a:t>
            </a:r>
          </a:p>
        </p:txBody>
      </p:sp>
    </p:spTree>
    <p:extLst>
      <p:ext uri="{BB962C8B-B14F-4D97-AF65-F5344CB8AC3E}">
        <p14:creationId xmlns:p14="http://schemas.microsoft.com/office/powerpoint/2010/main" val="703608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B9D4346-C8E7-4E37-8324-7FD2E8EC578F}"/>
              </a:ext>
            </a:extLst>
          </p:cNvPr>
          <p:cNvSpPr txBox="1"/>
          <p:nvPr/>
        </p:nvSpPr>
        <p:spPr>
          <a:xfrm>
            <a:off x="215516" y="908720"/>
            <a:ext cx="8712968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r>
              <a:rPr lang="pt-BR" sz="2000" dirty="0"/>
              <a:t>Fluxo alternativo/exceções: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Trata as exceções do fluxo normal </a:t>
            </a:r>
            <a:endParaRPr lang="pt-BR" sz="2000" b="0" i="1" dirty="0"/>
          </a:p>
          <a:p>
            <a:pPr marL="342900" indent="-342900">
              <a:buFontTx/>
              <a:buChar char="-"/>
            </a:pPr>
            <a:r>
              <a:rPr lang="pt-BR" sz="2000" b="0" dirty="0"/>
              <a:t>Também segue uma interativo de ações ator-&gt;sistema-&gt;ator-&gt;sistema, salvo em caso de uma estrutura de repetição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Também não deve descrever a interação com elementos de tela dando uma solução de tecnologia.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Segue uma estrutura diferente na qual a numeração deve ser a do fluxo normal em que resolve um problema, seguido da descrição do problema, e após os passos da solução podendo voltar para o caso de uso ou terminar na exceção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27AF546-475F-9254-8576-F922190467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</p:spTree>
    <p:extLst>
      <p:ext uri="{BB962C8B-B14F-4D97-AF65-F5344CB8AC3E}">
        <p14:creationId xmlns:p14="http://schemas.microsoft.com/office/powerpoint/2010/main" val="3386170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B9D4346-C8E7-4E37-8324-7FD2E8EC578F}"/>
              </a:ext>
            </a:extLst>
          </p:cNvPr>
          <p:cNvSpPr txBox="1"/>
          <p:nvPr/>
        </p:nvSpPr>
        <p:spPr>
          <a:xfrm>
            <a:off x="215516" y="908720"/>
            <a:ext cx="8712968" cy="38472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r>
              <a:rPr lang="pt-BR" sz="2000" dirty="0"/>
              <a:t>Fluxo alternativo/exceções: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Exemplo:</a:t>
            </a:r>
          </a:p>
          <a:p>
            <a:r>
              <a:rPr lang="pt-BR" sz="1700" b="0" i="1" dirty="0"/>
              <a:t>2.1 Dados do cliente inválido</a:t>
            </a:r>
          </a:p>
          <a:p>
            <a:pPr marL="457200" indent="-457200">
              <a:buAutoNum type="alphaLcParenR"/>
            </a:pPr>
            <a:r>
              <a:rPr lang="pt-BR" sz="1700" b="0" i="1" dirty="0"/>
              <a:t>Sistema emite mensagem de cliente inválido e retorna ao passo 1 do fluxo normal</a:t>
            </a:r>
          </a:p>
          <a:p>
            <a:r>
              <a:rPr lang="pt-BR" sz="1700" b="0" i="1" dirty="0"/>
              <a:t>2.2 Cliente inadimplente</a:t>
            </a:r>
          </a:p>
          <a:p>
            <a:pPr marL="457200" indent="-457200">
              <a:buAutoNum type="alphaLcParenR"/>
            </a:pPr>
            <a:r>
              <a:rPr lang="pt-BR" sz="1700" b="0" i="1" dirty="0"/>
              <a:t>Sistema emite mensagem de cliente inadimplente e finaliza o caso de uso</a:t>
            </a:r>
          </a:p>
          <a:p>
            <a:r>
              <a:rPr lang="pt-BR" sz="1700" b="0" i="1" dirty="0"/>
              <a:t>2.3 Cliente sem contrato LGPD acordado</a:t>
            </a:r>
          </a:p>
          <a:p>
            <a:pPr marL="457200" indent="-457200">
              <a:buAutoNum type="alphaLcParenR"/>
            </a:pPr>
            <a:r>
              <a:rPr lang="pt-BR" sz="1700" b="0" i="1" dirty="0"/>
              <a:t>Sistema emite mensagem de falta de acordo LGPD e requisita anuência do cliente quanto as diretrizes da LGPD</a:t>
            </a:r>
          </a:p>
          <a:p>
            <a:pPr marL="457200" indent="-457200">
              <a:buAutoNum type="alphaLcParenR"/>
            </a:pPr>
            <a:r>
              <a:rPr lang="pt-BR" sz="1700" b="0" i="1" dirty="0"/>
              <a:t>Cliente concorda com as diretrizes</a:t>
            </a:r>
          </a:p>
          <a:p>
            <a:pPr marL="457200" indent="-457200">
              <a:buAutoNum type="alphaLcParenR"/>
            </a:pPr>
            <a:r>
              <a:rPr lang="pt-BR" sz="1700" b="0" i="1" dirty="0"/>
              <a:t>Sistema retorna ao passo 3 do fluxo normal</a:t>
            </a:r>
          </a:p>
          <a:p>
            <a:r>
              <a:rPr lang="pt-BR" sz="1700" b="0" i="1" dirty="0"/>
              <a:t>2.3.b Cliente não concorda com as diretrizes</a:t>
            </a:r>
          </a:p>
          <a:p>
            <a:r>
              <a:rPr lang="pt-BR" sz="1700" b="0" i="1" dirty="0"/>
              <a:t>a) Sistema emite mensagem de cancelamento da venda por falta de acordo LGPD e finaliza o caso de uso.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27AF546-475F-9254-8576-F922190467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formato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02ED61-1B55-6C47-3862-986924DBADAE}"/>
              </a:ext>
            </a:extLst>
          </p:cNvPr>
          <p:cNvSpPr txBox="1"/>
          <p:nvPr/>
        </p:nvSpPr>
        <p:spPr>
          <a:xfrm>
            <a:off x="719572" y="4941168"/>
            <a:ext cx="8208912" cy="1754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r>
              <a:rPr lang="pt-BR" sz="2000" dirty="0"/>
              <a:t>Fluxo normal/básico/caminho feliz</a:t>
            </a:r>
          </a:p>
          <a:p>
            <a:pPr marL="342900" indent="-342900">
              <a:buFontTx/>
              <a:buChar char="-"/>
            </a:pPr>
            <a:r>
              <a:rPr lang="pt-BR" sz="2000" b="0" dirty="0"/>
              <a:t>Exemplo: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700" b="0" i="1" dirty="0"/>
              <a:t>Ator informa dados do cliente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700" b="0" i="1" dirty="0"/>
              <a:t>Sistema valida os dados e iniciar o processo de venda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700" b="0" i="1" dirty="0"/>
              <a:t>Ator informa o produto que deseja incluir na venda e quantidade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700" b="0" i="1" dirty="0"/>
              <a:t>Sistema ..............</a:t>
            </a:r>
          </a:p>
        </p:txBody>
      </p:sp>
    </p:spTree>
    <p:extLst>
      <p:ext uri="{BB962C8B-B14F-4D97-AF65-F5344CB8AC3E}">
        <p14:creationId xmlns:p14="http://schemas.microsoft.com/office/powerpoint/2010/main" val="2248120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AE295-036B-4186-A05F-F3D1CDB946C7}"/>
              </a:ext>
            </a:extLst>
          </p:cNvPr>
          <p:cNvSpPr txBox="1"/>
          <p:nvPr/>
        </p:nvSpPr>
        <p:spPr>
          <a:xfrm>
            <a:off x="47866" y="823117"/>
            <a:ext cx="2154767" cy="6001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b="1" dirty="0"/>
              <a:t>Caso de uso: </a:t>
            </a:r>
            <a:r>
              <a:rPr lang="pt-BR" sz="1600" dirty="0"/>
              <a:t>montar treino</a:t>
            </a:r>
          </a:p>
          <a:p>
            <a:r>
              <a:rPr lang="pt-BR" sz="1600" b="1" dirty="0"/>
              <a:t>atores: </a:t>
            </a:r>
            <a:r>
              <a:rPr lang="pt-BR" sz="1600" dirty="0" err="1"/>
              <a:t>personal</a:t>
            </a:r>
            <a:endParaRPr lang="pt-BR" sz="1600" dirty="0"/>
          </a:p>
          <a:p>
            <a:r>
              <a:rPr lang="pt-BR" sz="1600" b="1" dirty="0"/>
              <a:t>referências: </a:t>
            </a:r>
            <a:r>
              <a:rPr lang="pt-BR" sz="1600" dirty="0"/>
              <a:t>RF_F5, RF_S1, RF_F9 ...</a:t>
            </a:r>
          </a:p>
          <a:p>
            <a:r>
              <a:rPr lang="pt-BR" sz="1600" b="1" dirty="0"/>
              <a:t>Breve descrição: </a:t>
            </a:r>
            <a:r>
              <a:rPr lang="pt-BR" sz="1600" dirty="0"/>
              <a:t>o </a:t>
            </a:r>
            <a:r>
              <a:rPr lang="pt-BR" sz="1600" dirty="0" err="1"/>
              <a:t>personal</a:t>
            </a:r>
            <a:r>
              <a:rPr lang="pt-BR" sz="1600" dirty="0"/>
              <a:t> informa o aluno, objetivos do treino, exercícios, carga, serie e repetição. O sistema valida os dados e cria novo treino para o aluno e emite a ficha de treino.</a:t>
            </a:r>
          </a:p>
          <a:p>
            <a:r>
              <a:rPr lang="pt-BR" sz="1600" b="1" dirty="0"/>
              <a:t>Requisitos especiais: </a:t>
            </a:r>
            <a:r>
              <a:rPr lang="pt-BR" sz="1600" dirty="0"/>
              <a:t>transação em banco de dados</a:t>
            </a:r>
          </a:p>
          <a:p>
            <a:r>
              <a:rPr lang="pt-BR" sz="1600" b="1" dirty="0"/>
              <a:t>pré-condições: </a:t>
            </a:r>
            <a:r>
              <a:rPr lang="pt-BR" sz="1600" dirty="0"/>
              <a:t>aluno e </a:t>
            </a:r>
            <a:r>
              <a:rPr lang="pt-BR" sz="1600" dirty="0" err="1"/>
              <a:t>personal</a:t>
            </a:r>
            <a:r>
              <a:rPr lang="pt-BR" sz="1600" dirty="0"/>
              <a:t> cadastrado. avaliação realizada. Aluno matriculado.</a:t>
            </a:r>
          </a:p>
          <a:p>
            <a:r>
              <a:rPr lang="pt-BR" sz="1600" b="1" dirty="0"/>
              <a:t>pós-condições: </a:t>
            </a:r>
            <a:r>
              <a:rPr lang="pt-BR" sz="1600" dirty="0"/>
              <a:t>treino montado e ficha emitida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C528DF-A402-4810-A34C-36557354D356}"/>
              </a:ext>
            </a:extLst>
          </p:cNvPr>
          <p:cNvSpPr txBox="1"/>
          <p:nvPr/>
        </p:nvSpPr>
        <p:spPr>
          <a:xfrm>
            <a:off x="2202633" y="946227"/>
            <a:ext cx="2990658" cy="57554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b="1" dirty="0"/>
              <a:t>Fluxo normal</a:t>
            </a:r>
          </a:p>
          <a:p>
            <a:r>
              <a:rPr lang="pt-BR" sz="1600" dirty="0"/>
              <a:t>1 - Ator informa os dados do aluno</a:t>
            </a:r>
          </a:p>
          <a:p>
            <a:r>
              <a:rPr lang="pt-BR" sz="1600" dirty="0"/>
              <a:t>2 - Sistema valida os dados e inicia o a montagem do treino</a:t>
            </a:r>
          </a:p>
          <a:p>
            <a:r>
              <a:rPr lang="pt-BR" sz="1600" dirty="0"/>
              <a:t>3 - Ator informa objetivo do treino e validade do mesmo</a:t>
            </a:r>
          </a:p>
          <a:p>
            <a:r>
              <a:rPr lang="pt-BR" sz="1600" dirty="0"/>
              <a:t>4 - Sistema valida os dados</a:t>
            </a:r>
          </a:p>
          <a:p>
            <a:r>
              <a:rPr lang="pt-BR" sz="1600" dirty="0"/>
              <a:t>5 - Ator informa o grupo muscular</a:t>
            </a:r>
          </a:p>
          <a:p>
            <a:r>
              <a:rPr lang="pt-BR" sz="1600" dirty="0"/>
              <a:t>6 - Sistema valida os dados e lista os exercícios</a:t>
            </a:r>
          </a:p>
          <a:p>
            <a:r>
              <a:rPr lang="pt-BR" sz="1600" dirty="0"/>
              <a:t>7 - Ator informa o exercício, dia de treino, carga, serie e repetição</a:t>
            </a:r>
          </a:p>
          <a:p>
            <a:r>
              <a:rPr lang="pt-BR" sz="1600" dirty="0"/>
              <a:t>8 - Sistema valida os dados, insere o exercício no treino e repete passos 5 e 8 até que indique término.</a:t>
            </a:r>
          </a:p>
          <a:p>
            <a:r>
              <a:rPr lang="pt-BR" sz="1600" dirty="0"/>
              <a:t>9 - Ator confirma o treino</a:t>
            </a:r>
          </a:p>
          <a:p>
            <a:r>
              <a:rPr lang="pt-BR" sz="1600" dirty="0"/>
              <a:t>10 - Sistema registra o treino, emite ficha de treino executando o caso de uso "RF_S1 - Emitir ficha de treino" e finaliza o caso de uso.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9D4346-C8E7-4E37-8324-7FD2E8EC578F}"/>
              </a:ext>
            </a:extLst>
          </p:cNvPr>
          <p:cNvSpPr txBox="1"/>
          <p:nvPr/>
        </p:nvSpPr>
        <p:spPr>
          <a:xfrm>
            <a:off x="5074421" y="823118"/>
            <a:ext cx="4028609" cy="6001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b="1" dirty="0"/>
              <a:t>Fluxo alternativo:</a:t>
            </a:r>
          </a:p>
          <a:p>
            <a:r>
              <a:rPr lang="pt-BR" sz="1600" dirty="0"/>
              <a:t>2.1 - Aluno sem cadastro</a:t>
            </a:r>
          </a:p>
          <a:p>
            <a:r>
              <a:rPr lang="pt-BR" sz="1600" dirty="0"/>
              <a:t> a) Sistema emite mensagem de aluno inexistente e finaliza o caso de uso.</a:t>
            </a:r>
          </a:p>
          <a:p>
            <a:r>
              <a:rPr lang="pt-BR" sz="1600" dirty="0"/>
              <a:t>2.2 - Aluno sem matricula</a:t>
            </a:r>
          </a:p>
          <a:p>
            <a:r>
              <a:rPr lang="pt-BR" sz="1600" dirty="0"/>
              <a:t> a) Sistema emite mensagem de aluno sem matricula e finaliza o caso de uso.</a:t>
            </a:r>
          </a:p>
          <a:p>
            <a:r>
              <a:rPr lang="pt-BR" sz="1600" dirty="0"/>
              <a:t>2.3 -  Aluno sem avaliação física </a:t>
            </a:r>
          </a:p>
          <a:p>
            <a:r>
              <a:rPr lang="pt-BR" sz="1600" dirty="0"/>
              <a:t> a) Sistema emite mensagem de aluno sem avaliação física, redireciona para o caso de uso "RF_F9 - Agendar avaliação física" e finaliza o caso de uso.</a:t>
            </a:r>
          </a:p>
          <a:p>
            <a:r>
              <a:rPr lang="pt-BR" sz="1600" dirty="0"/>
              <a:t>4.1 - Data inválida</a:t>
            </a:r>
          </a:p>
          <a:p>
            <a:r>
              <a:rPr lang="pt-BR" sz="1600" dirty="0"/>
              <a:t> a) Sistema emite mensagem de data inválida e retorna ao passo 3.</a:t>
            </a:r>
          </a:p>
          <a:p>
            <a:r>
              <a:rPr lang="pt-BR" sz="1600" dirty="0"/>
              <a:t>6.1 - Grupo inexistente</a:t>
            </a:r>
          </a:p>
          <a:p>
            <a:r>
              <a:rPr lang="pt-BR" sz="1600" dirty="0"/>
              <a:t> a) Sistema emite mensagem de grupo inexistente e retorna ao passo 5.</a:t>
            </a:r>
          </a:p>
          <a:p>
            <a:r>
              <a:rPr lang="pt-BR" sz="1600" dirty="0"/>
              <a:t>8.1 - Dia, carga, serie e repetição</a:t>
            </a:r>
          </a:p>
          <a:p>
            <a:r>
              <a:rPr lang="pt-BR" sz="1600" dirty="0"/>
              <a:t> a) Sistema emite mensagem de erro e retorna ao passo 7</a:t>
            </a:r>
          </a:p>
          <a:p>
            <a:r>
              <a:rPr lang="pt-BR" sz="1600" dirty="0"/>
              <a:t>10.1 - Erro de registro</a:t>
            </a:r>
          </a:p>
          <a:p>
            <a:r>
              <a:rPr lang="pt-BR" sz="1600" dirty="0"/>
              <a:t> a) Sistema emite mensagem de erro no registro do treino e finaliza o caso de uso.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C8DD687-5BD8-7D2B-F952-05FE387D0C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Especificação de casos de uso - exemplo</a:t>
            </a:r>
          </a:p>
        </p:txBody>
      </p:sp>
    </p:spTree>
    <p:extLst>
      <p:ext uri="{BB962C8B-B14F-4D97-AF65-F5344CB8AC3E}">
        <p14:creationId xmlns:p14="http://schemas.microsoft.com/office/powerpoint/2010/main" val="3061476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>
            <a:spLocks noGrp="1"/>
          </p:cNvSpPr>
          <p:nvPr>
            <p:ph type="body" idx="1"/>
          </p:nvPr>
        </p:nvSpPr>
        <p:spPr>
          <a:xfrm>
            <a:off x="0" y="2276872"/>
            <a:ext cx="9144000" cy="45811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457200" lvl="1" indent="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GB" sz="2600" dirty="0">
                <a:latin typeface="Calibri"/>
                <a:cs typeface="Calibri"/>
                <a:sym typeface="Calibri"/>
              </a:rPr>
              <a:t>		</a:t>
            </a:r>
          </a:p>
          <a:p>
            <a:pPr marL="457200" lvl="1" indent="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GB" sz="2600" dirty="0">
                <a:latin typeface="Calibri"/>
                <a:cs typeface="Calibri"/>
                <a:sym typeface="Calibri"/>
              </a:rPr>
              <a:t>“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Você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deve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especificar</a:t>
            </a:r>
            <a:r>
              <a:rPr lang="en-GB" sz="2600" dirty="0">
                <a:latin typeface="Calibri"/>
                <a:cs typeface="Calibri"/>
                <a:sym typeface="Calibri"/>
              </a:rPr>
              <a:t> o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caso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uso</a:t>
            </a:r>
            <a:r>
              <a:rPr lang="en-GB" sz="2600" dirty="0">
                <a:latin typeface="Calibri"/>
                <a:cs typeface="Calibri"/>
                <a:sym typeface="Calibri"/>
              </a:rPr>
              <a:t> vender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produtos</a:t>
            </a:r>
            <a:r>
              <a:rPr lang="en-GB" sz="2600" dirty="0">
                <a:latin typeface="Calibri"/>
                <a:cs typeface="Calibri"/>
                <a:sym typeface="Calibri"/>
              </a:rPr>
              <a:t> para um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sistema</a:t>
            </a:r>
            <a:r>
              <a:rPr lang="en-GB" sz="2600" dirty="0">
                <a:latin typeface="Calibri"/>
                <a:cs typeface="Calibri"/>
                <a:sym typeface="Calibri"/>
              </a:rPr>
              <a:t> de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venda</a:t>
            </a:r>
            <a:r>
              <a:rPr lang="en-GB" sz="2600" dirty="0">
                <a:latin typeface="Calibri"/>
                <a:cs typeface="Calibri"/>
                <a:sym typeface="Calibri"/>
              </a:rPr>
              <a:t> </a:t>
            </a:r>
            <a:r>
              <a:rPr lang="en-GB" sz="2600" dirty="0" err="1">
                <a:latin typeface="Calibri"/>
                <a:cs typeface="Calibri"/>
                <a:sym typeface="Calibri"/>
              </a:rPr>
              <a:t>balcão</a:t>
            </a:r>
            <a:r>
              <a:rPr lang="en-GB" sz="2600" dirty="0">
                <a:latin typeface="Calibri"/>
                <a:cs typeface="Calibri"/>
                <a:sym typeface="Calibri"/>
              </a:rPr>
              <a:t>.”</a:t>
            </a:r>
          </a:p>
          <a:p>
            <a:pPr marL="457200" lvl="1" indent="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endParaRPr lang="en-GB" sz="2600" dirty="0">
              <a:latin typeface="Calibri"/>
              <a:cs typeface="Calibri"/>
              <a:sym typeface="Calibri"/>
            </a:endParaRPr>
          </a:p>
          <a:p>
            <a:pPr marL="457200" lvl="1" indent="0" algn="just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endParaRPr lang="en-GB" sz="2600" dirty="0">
              <a:latin typeface="Calibri"/>
              <a:cs typeface="Calibri"/>
              <a:sym typeface="Calibri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07667F1-D822-317B-84BC-EF000B74D939}"/>
              </a:ext>
            </a:extLst>
          </p:cNvPr>
          <p:cNvSpPr txBox="1">
            <a:spLocks/>
          </p:cNvSpPr>
          <p:nvPr/>
        </p:nvSpPr>
        <p:spPr>
          <a:xfrm>
            <a:off x="179512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Exercício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C615CE9-8188-03D4-3B0E-4859E0FD8FD2}"/>
              </a:ext>
            </a:extLst>
          </p:cNvPr>
          <p:cNvSpPr txBox="1"/>
          <p:nvPr/>
        </p:nvSpPr>
        <p:spPr>
          <a:xfrm>
            <a:off x="2447764" y="4149080"/>
            <a:ext cx="4248472" cy="1754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0" algn="ctr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GB" sz="5400" dirty="0" err="1">
                <a:latin typeface="Calibri"/>
                <a:cs typeface="Calibri"/>
                <a:sym typeface="Calibri"/>
              </a:rPr>
              <a:t>Vamos</a:t>
            </a:r>
            <a:r>
              <a:rPr lang="en-GB" sz="5400" dirty="0">
                <a:latin typeface="Calibri"/>
                <a:cs typeface="Calibri"/>
                <a:sym typeface="Calibri"/>
              </a:rPr>
              <a:t> </a:t>
            </a:r>
            <a:r>
              <a:rPr lang="en-GB" sz="5400" dirty="0" err="1">
                <a:latin typeface="Calibri"/>
                <a:cs typeface="Calibri"/>
                <a:sym typeface="Calibri"/>
              </a:rPr>
              <a:t>praticar</a:t>
            </a:r>
            <a:r>
              <a:rPr lang="en-GB" sz="5400" dirty="0">
                <a:latin typeface="Calibri"/>
                <a:cs typeface="Calibri"/>
                <a:sym typeface="Calibri"/>
              </a:rPr>
              <a:t>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654EB2-F1BA-93AF-138B-3EF772B912A8}"/>
              </a:ext>
            </a:extLst>
          </p:cNvPr>
          <p:cNvSpPr txBox="1"/>
          <p:nvPr/>
        </p:nvSpPr>
        <p:spPr>
          <a:xfrm>
            <a:off x="1007604" y="1322278"/>
            <a:ext cx="7128792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0" algn="ctr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en-GB" sz="2800" dirty="0" err="1">
                <a:latin typeface="Calibri"/>
                <a:cs typeface="Calibri"/>
                <a:sym typeface="Calibri"/>
              </a:rPr>
              <a:t>Vamos</a:t>
            </a:r>
            <a:r>
              <a:rPr lang="en-GB" sz="2800" dirty="0">
                <a:latin typeface="Calibri"/>
                <a:cs typeface="Calibri"/>
                <a:sym typeface="Calibri"/>
              </a:rPr>
              <a:t>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realizar</a:t>
            </a:r>
            <a:r>
              <a:rPr lang="en-GB" sz="2800" dirty="0">
                <a:latin typeface="Calibri"/>
                <a:cs typeface="Calibri"/>
                <a:sym typeface="Calibri"/>
              </a:rPr>
              <a:t>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uma</a:t>
            </a:r>
            <a:r>
              <a:rPr lang="en-GB" sz="2800" dirty="0">
                <a:latin typeface="Calibri"/>
                <a:cs typeface="Calibri"/>
                <a:sym typeface="Calibri"/>
              </a:rPr>
              <a:t>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especificação</a:t>
            </a:r>
            <a:r>
              <a:rPr lang="en-GB" sz="2800" dirty="0">
                <a:latin typeface="Calibri"/>
                <a:cs typeface="Calibri"/>
                <a:sym typeface="Calibri"/>
              </a:rPr>
              <a:t> de um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caso</a:t>
            </a:r>
            <a:r>
              <a:rPr lang="en-GB" sz="2800" dirty="0">
                <a:latin typeface="Calibri"/>
                <a:cs typeface="Calibri"/>
                <a:sym typeface="Calibri"/>
              </a:rPr>
              <a:t> de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uso</a:t>
            </a:r>
            <a:r>
              <a:rPr lang="en-GB" sz="2800" dirty="0">
                <a:latin typeface="Calibri"/>
                <a:cs typeface="Calibri"/>
                <a:sym typeface="Calibri"/>
              </a:rPr>
              <a:t> </a:t>
            </a:r>
            <a:r>
              <a:rPr lang="en-GB" sz="2800" dirty="0" err="1">
                <a:latin typeface="Calibri"/>
                <a:cs typeface="Calibri"/>
                <a:sym typeface="Calibri"/>
              </a:rPr>
              <a:t>em</a:t>
            </a:r>
            <a:r>
              <a:rPr lang="en-GB" sz="2800" dirty="0">
                <a:latin typeface="Calibri"/>
                <a:cs typeface="Calibri"/>
                <a:sym typeface="Calibri"/>
              </a:rPr>
              <a:t> conjunto?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8AE295-036B-4186-A05F-F3D1CDB946C7}"/>
              </a:ext>
            </a:extLst>
          </p:cNvPr>
          <p:cNvSpPr txBox="1"/>
          <p:nvPr/>
        </p:nvSpPr>
        <p:spPr>
          <a:xfrm>
            <a:off x="179512" y="908720"/>
            <a:ext cx="8784976" cy="16004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/>
              <a:t>Caso de uso: </a:t>
            </a:r>
            <a:r>
              <a:rPr lang="pt-BR" sz="1400" dirty="0"/>
              <a:t>Efetuar Pedido de Devolução de Produtos</a:t>
            </a:r>
          </a:p>
          <a:p>
            <a:r>
              <a:rPr lang="pt-BR" sz="1400" b="1" dirty="0"/>
              <a:t>atores: </a:t>
            </a:r>
            <a:endParaRPr lang="pt-BR" sz="1400" dirty="0"/>
          </a:p>
          <a:p>
            <a:r>
              <a:rPr lang="pt-BR" sz="1400" b="1" dirty="0"/>
              <a:t>referências:</a:t>
            </a:r>
            <a:endParaRPr lang="pt-BR" sz="1400" dirty="0"/>
          </a:p>
          <a:p>
            <a:r>
              <a:rPr lang="pt-BR" sz="1400" b="1" dirty="0"/>
              <a:t>Breve descrição:</a:t>
            </a:r>
            <a:endParaRPr lang="pt-BR" sz="1400" dirty="0"/>
          </a:p>
          <a:p>
            <a:r>
              <a:rPr lang="pt-BR" sz="1400" b="1" dirty="0"/>
              <a:t>Requisitos especiais:</a:t>
            </a:r>
            <a:endParaRPr lang="pt-BR" sz="1400" dirty="0"/>
          </a:p>
          <a:p>
            <a:r>
              <a:rPr lang="pt-BR" sz="1400" b="1" dirty="0"/>
              <a:t>pré-condições:</a:t>
            </a:r>
            <a:endParaRPr lang="pt-BR" sz="1400" dirty="0"/>
          </a:p>
          <a:p>
            <a:r>
              <a:rPr lang="pt-BR" sz="1400" b="1" dirty="0"/>
              <a:t>pós-condições:</a:t>
            </a:r>
            <a:endParaRPr lang="pt-BR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6CB245D-0632-7852-E529-B07814F2B5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Exercício</a:t>
            </a:r>
          </a:p>
        </p:txBody>
      </p:sp>
    </p:spTree>
    <p:extLst>
      <p:ext uri="{BB962C8B-B14F-4D97-AF65-F5344CB8AC3E}">
        <p14:creationId xmlns:p14="http://schemas.microsoft.com/office/powerpoint/2010/main" val="2502511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3C528DF-A402-4810-A34C-36557354D356}"/>
              </a:ext>
            </a:extLst>
          </p:cNvPr>
          <p:cNvSpPr txBox="1"/>
          <p:nvPr/>
        </p:nvSpPr>
        <p:spPr>
          <a:xfrm>
            <a:off x="139583" y="1124744"/>
            <a:ext cx="877584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/>
              <a:t>Fluxo normal: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9D4346-C8E7-4E37-8324-7FD2E8EC578F}"/>
              </a:ext>
            </a:extLst>
          </p:cNvPr>
          <p:cNvSpPr txBox="1"/>
          <p:nvPr/>
        </p:nvSpPr>
        <p:spPr>
          <a:xfrm>
            <a:off x="148103" y="3891831"/>
            <a:ext cx="8784976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/>
              <a:t>Fluxo alternativo:</a:t>
            </a:r>
          </a:p>
          <a:p>
            <a:r>
              <a:rPr lang="pt-BR" sz="1400" dirty="0"/>
              <a:t>2.1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6CB245D-0632-7852-E529-B07814F2B5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F39300"/>
                </a:solidFill>
                <a:ea typeface="Segoe UI" pitchFamily="34" charset="0"/>
                <a:cs typeface="Segoe UI" pitchFamily="34" charset="0"/>
              </a:rPr>
              <a:t>Exercício</a:t>
            </a:r>
          </a:p>
        </p:txBody>
      </p:sp>
    </p:spTree>
    <p:extLst>
      <p:ext uri="{BB962C8B-B14F-4D97-AF65-F5344CB8AC3E}">
        <p14:creationId xmlns:p14="http://schemas.microsoft.com/office/powerpoint/2010/main" val="2958926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8B8498-EDA7-42D6-8911-51CA2D6ABE67}" type="slidenum">
              <a:rPr lang="pt-BR"/>
              <a:pPr>
                <a:defRPr/>
              </a:pPr>
              <a:t>25</a:t>
            </a:fld>
            <a:endParaRPr lang="pt-BR"/>
          </a:p>
        </p:txBody>
      </p:sp>
      <p:sp>
        <p:nvSpPr>
          <p:cNvPr id="6" name="WordArt 4"/>
          <p:cNvSpPr>
            <a:spLocks noChangeArrowheads="1" noChangeShapeType="1" noTextEdit="1"/>
          </p:cNvSpPr>
          <p:nvPr/>
        </p:nvSpPr>
        <p:spPr bwMode="auto">
          <a:xfrm>
            <a:off x="429005" y="476672"/>
            <a:ext cx="5077545" cy="1100319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</a:bodyPr>
          <a:lstStyle/>
          <a:p>
            <a:r>
              <a:rPr lang="pt-BR" sz="2700" kern="10" dirty="0">
                <a:ln w="9525" cap="sq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solidFill>
                  <a:srgbClr val="FF9999"/>
                </a:solidFill>
                <a:effectLst>
                  <a:outerShdw dist="107763" dir="18900000" algn="ctr" rotWithShape="0">
                    <a:srgbClr val="808080"/>
                  </a:outerShdw>
                </a:effectLst>
                <a:latin typeface="Arial Black"/>
              </a:rPr>
              <a:t>Dúvidas?</a:t>
            </a:r>
          </a:p>
        </p:txBody>
      </p:sp>
      <p:pic>
        <p:nvPicPr>
          <p:cNvPr id="1026" name="Picture 2" descr="Area de Dúvidas - Fibranet">
            <a:extLst>
              <a:ext uri="{FF2B5EF4-FFF2-40B4-BE49-F238E27FC236}">
                <a16:creationId xmlns:a16="http://schemas.microsoft.com/office/drawing/2014/main" id="{40EEFEC1-1576-BF55-CE09-C4C7F75F1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69431"/>
            <a:ext cx="3502111" cy="46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mação do Futuro do Subjuntivo - Mundo Educação">
            <a:extLst>
              <a:ext uri="{FF2B5EF4-FFF2-40B4-BE49-F238E27FC236}">
                <a16:creationId xmlns:a16="http://schemas.microsoft.com/office/drawing/2014/main" id="{DAB291E4-E76E-2A82-A478-FDE042481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109" y="136524"/>
            <a:ext cx="2835315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z dicas de Português sobre verbos - Brasil Escola">
            <a:extLst>
              <a:ext uri="{FF2B5EF4-FFF2-40B4-BE49-F238E27FC236}">
                <a16:creationId xmlns:a16="http://schemas.microsoft.com/office/drawing/2014/main" id="{E79754CF-3328-8A37-5410-C1EE5A897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311" y="3449728"/>
            <a:ext cx="4982357" cy="327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415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Obrigado (Thank You in Portuguese) Word Cloud in different languages vector  de Stock | Adobe Stock">
            <a:extLst>
              <a:ext uri="{FF2B5EF4-FFF2-40B4-BE49-F238E27FC236}">
                <a16:creationId xmlns:a16="http://schemas.microsoft.com/office/drawing/2014/main" id="{F601776C-9129-6293-0585-F113405F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0"/>
            <a:ext cx="9070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8B8498-EDA7-42D6-8911-51CA2D6ABE67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350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2" r="12212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B8B5C1D3-5CBC-F7C5-3015-F49B4E2EB9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440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7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41"/>
    </mc:Choice>
    <mc:Fallback xmlns="">
      <p:transition spd="slow" advTm="340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CUSTOMXMLID" val="{E82F73A9-5E97-4CCB-8E48-79759332792F}"/>
  <p:tag name="ATHENA.CUSTOMXMLCONTENT" val="&lt;?xml version=&quot;1.0&quot;?&gt;&lt;athena xmlns=&quot;http://schemas.microsoft.com/edu/athena&quot; version=&quot;0.1.3517.0&quot;&gt;&lt;timings duration=&quot;10076&quot;/&gt;&lt;/athena&gt;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athena xmlns="http://schemas.microsoft.com/edu/athena" version="0.1.3517.0">
  <timings duration="10076"/>
</athena>
</file>

<file path=customXml/itemProps1.xml><?xml version="1.0" encoding="utf-8"?>
<ds:datastoreItem xmlns:ds="http://schemas.openxmlformats.org/officeDocument/2006/customXml" ds:itemID="{E82F73A9-5E97-4CCB-8E48-79759332792F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2711</TotalTime>
  <Words>1513</Words>
  <Application>Microsoft Office PowerPoint</Application>
  <PresentationFormat>Apresentação na tela (4:3)</PresentationFormat>
  <Paragraphs>200</Paragraphs>
  <Slides>27</Slides>
  <Notes>15</Notes>
  <HiddenSlides>0</HiddenSlides>
  <MMClips>2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Arial Black</vt:lpstr>
      <vt:lpstr>Calibri</vt:lpstr>
      <vt:lpstr>Segoe UI</vt:lpstr>
      <vt:lpstr>Times New Roman</vt:lpstr>
      <vt:lpstr>Wingdings</vt:lpstr>
      <vt:lpstr>Tema do Office</vt:lpstr>
      <vt:lpstr>WebConferência 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Parte I Gestão de Projetos  Conceitos  Nove áreas  Cinco grupo de processos  Processos</dc:title>
  <dc:creator>Aluno</dc:creator>
  <cp:lastModifiedBy>Francisco Virginio Maracci</cp:lastModifiedBy>
  <cp:revision>297</cp:revision>
  <dcterms:created xsi:type="dcterms:W3CDTF">2014-08-25T19:21:05Z</dcterms:created>
  <dcterms:modified xsi:type="dcterms:W3CDTF">2024-09-16T11:33:57Z</dcterms:modified>
</cp:coreProperties>
</file>