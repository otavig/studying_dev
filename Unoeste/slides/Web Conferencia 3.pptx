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1"/>
  </p:sldMasterIdLst>
  <p:notesMasterIdLst>
    <p:notesMasterId r:id="rId52"/>
  </p:notesMasterIdLst>
  <p:sldIdLst>
    <p:sldId id="691" r:id="rId32"/>
    <p:sldId id="294" r:id="rId33"/>
    <p:sldId id="295" r:id="rId34"/>
    <p:sldId id="690" r:id="rId35"/>
    <p:sldId id="298" r:id="rId36"/>
    <p:sldId id="304" r:id="rId37"/>
    <p:sldId id="299" r:id="rId38"/>
    <p:sldId id="300" r:id="rId39"/>
    <p:sldId id="301" r:id="rId40"/>
    <p:sldId id="310" r:id="rId41"/>
    <p:sldId id="311" r:id="rId42"/>
    <p:sldId id="296" r:id="rId43"/>
    <p:sldId id="1217" r:id="rId44"/>
    <p:sldId id="1214" r:id="rId45"/>
    <p:sldId id="1218" r:id="rId46"/>
    <p:sldId id="1219" r:id="rId47"/>
    <p:sldId id="1215" r:id="rId48"/>
    <p:sldId id="1216" r:id="rId49"/>
    <p:sldId id="1220" r:id="rId50"/>
    <p:sldId id="258" r:id="rId51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8.xml"/><Relationship Id="rId21" Type="http://schemas.openxmlformats.org/officeDocument/2006/relationships/customXml" Target="../customXml/item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slide" Target="slides/slide19.xml"/><Relationship Id="rId55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customXml" Target="../customXml/item29.xml"/><Relationship Id="rId41" Type="http://schemas.openxmlformats.org/officeDocument/2006/relationships/slide" Target="slides/slide10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Master" Target="slideMasters/slideMaster1.xml"/><Relationship Id="rId44" Type="http://schemas.openxmlformats.org/officeDocument/2006/relationships/slide" Target="slides/slide13.xml"/><Relationship Id="rId52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slide" Target="slides/slide20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F9018-E01E-4BEA-AD45-789D0B75D44B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03F39-5447-466C-8ED6-34BD9485A0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50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Imagem de Slide 1">
            <a:extLst>
              <a:ext uri="{FF2B5EF4-FFF2-40B4-BE49-F238E27FC236}">
                <a16:creationId xmlns:a16="http://schemas.microsoft.com/office/drawing/2014/main" id="{591946A4-D89C-423E-844E-B4B5235B1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Espaço Reservado para Anotações 2">
            <a:extLst>
              <a:ext uri="{FF2B5EF4-FFF2-40B4-BE49-F238E27FC236}">
                <a16:creationId xmlns:a16="http://schemas.microsoft.com/office/drawing/2014/main" id="{A5AF1334-183C-4DFC-A6AC-21E917013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6148" name="Espaço Reservado para Número de Slide 3">
            <a:extLst>
              <a:ext uri="{FF2B5EF4-FFF2-40B4-BE49-F238E27FC236}">
                <a16:creationId xmlns:a16="http://schemas.microsoft.com/office/drawing/2014/main" id="{6BBA6C9D-7DCE-40AD-BEB3-7E04520D04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7BAB87-DBD9-44C1-B3BD-A2B369305A1D}" type="slidenum">
              <a:rPr lang="pt-BR" altLang="pt-BR" sz="1000" u="none" smtClean="0"/>
              <a:pPr/>
              <a:t>1</a:t>
            </a:fld>
            <a:endParaRPr lang="pt-BR" altLang="pt-BR" sz="1000" u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3E39-703F-25AB-B260-D42B2D8E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58C3273-D5BE-52D3-8806-FABAEEE31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13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8C430FF-368F-74C7-CFCA-9CDD46B39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56A49FB-DAD9-CC83-A209-676DEADD5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216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9102163-D918-467B-9D3D-95E9B2C31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14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DA1C6B9-6A71-4EB6-8B72-7435501462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9E767CD-60C8-4494-8E80-EC223F1FE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473D-92A9-1627-95B6-65EC6B39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E76BDB7E-9CC8-EFAA-07A4-F51B9FBB5B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15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34568A6-0BAA-01F6-5DF3-EA8BC82372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F227933-AC51-162F-F3C9-2BF9C2BBA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00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E9F1-D3AE-45F2-6344-30684D60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61164D7-DEF7-CF2D-97C0-F72E86C99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16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4F7C3D4-AA3E-F8A1-3853-6793E7464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891656-3517-DD34-C073-5A4186C63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5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E085-409C-31A5-A218-BF47F295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CC3B78-81E3-0A00-1381-A5F315900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17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89BE4E4-B3FA-BF18-9465-DB9C1C38C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454D2D7-FB6C-475F-BCB5-DCD163673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722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5CFA3-504F-FCF0-8BFC-A2C8D501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C4DA36C-61DC-01A5-C164-AB0318D57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18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E3F9375-9821-8B86-0A5F-497ECB59D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AE4381E2-463F-4EEC-8D0E-6D92F2D05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857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44E1-1F54-AD99-FFEB-FC9809F7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604A3CE-D6EC-EF24-3389-0B4BD83704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0913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3D0979-11B2-48D0-958C-5DCE3EC8CB53}" type="slidenum">
              <a:rPr lang="pt-BR" altLang="pt-BR" sz="1000" u="none" smtClean="0"/>
              <a:pPr/>
              <a:t>19</a:t>
            </a:fld>
            <a:endParaRPr lang="pt-BR" altLang="pt-BR" sz="1000" u="non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8AD9C2A-B18E-8458-BDAD-CF3163757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230AEDA-14AD-A8CC-9AA3-275A56E6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3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17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43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02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24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38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20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20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69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04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0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98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F37A3-90D3-4F2F-9420-61310B94BC2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08218-BC61-4884-A0B2-74F0812012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3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768BC4E-8CF5-448C-A748-5B734B1A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77BE80DB-761F-4C80-8380-4FC99C3DD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097" y="1491854"/>
            <a:ext cx="6210301" cy="131325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850" dirty="0">
                <a:solidFill>
                  <a:schemeClr val="bg1"/>
                </a:solidFill>
                <a:ea typeface="Roboto" pitchFamily="2" charset="0"/>
                <a:cs typeface="Arial" pitchFamily="34" charset="0"/>
              </a:rPr>
              <a:t>Web Conferência III</a:t>
            </a:r>
            <a:br>
              <a:rPr lang="pt-BR" sz="2850" dirty="0">
                <a:solidFill>
                  <a:schemeClr val="bg1"/>
                </a:solidFill>
                <a:ea typeface="Roboto" pitchFamily="2" charset="0"/>
                <a:cs typeface="Arial" pitchFamily="34" charset="0"/>
              </a:rPr>
            </a:br>
            <a:endParaRPr lang="pt-BR" sz="21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124" name="CaixaDeTexto 1">
            <a:extLst>
              <a:ext uri="{FF2B5EF4-FFF2-40B4-BE49-F238E27FC236}">
                <a16:creationId xmlns:a16="http://schemas.microsoft.com/office/drawing/2014/main" id="{7D5026DB-A30B-4D45-BB3B-2E43DF6E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3" y="2733676"/>
            <a:ext cx="30789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99"/>
              </a:buClr>
              <a:buFont typeface="Wingdings" panose="05000000000000000000" pitchFamily="2" charset="2"/>
              <a:buChar char="Ä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3399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rgbClr val="003399"/>
              </a:buClr>
              <a:buFont typeface="Symbol" panose="05050102010706020507" pitchFamily="18" charset="2"/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anose="05000000000000000000" pitchFamily="2" charset="2"/>
              <a:buChar char="Ä"/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pt-BR" sz="1800">
                <a:solidFill>
                  <a:schemeClr val="bg1"/>
                </a:solidFill>
              </a:rPr>
              <a:t>Francisco Virginio Maracci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pt-BR" altLang="pt-BR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75606"/>
            <a:ext cx="6858000" cy="4286262"/>
          </a:xfrm>
        </p:spPr>
        <p:txBody>
          <a:bodyPr>
            <a:noAutofit/>
          </a:bodyPr>
          <a:lstStyle/>
          <a:p>
            <a:r>
              <a:rPr lang="pt-BR" sz="1575" dirty="0"/>
              <a:t>Também denominado modelo de objetos de negócio</a:t>
            </a:r>
          </a:p>
          <a:p>
            <a:r>
              <a:rPr lang="pt-BR" sz="1575" dirty="0"/>
              <a:t>Representa os conceitos/objetos relevantes para o domínio do problema</a:t>
            </a:r>
          </a:p>
          <a:p>
            <a:r>
              <a:rPr lang="pt-BR" sz="1575" dirty="0"/>
              <a:t>Realizado no Diagrama de classes da UML</a:t>
            </a:r>
          </a:p>
          <a:p>
            <a:pPr lvl="1"/>
            <a:r>
              <a:rPr lang="pt-BR" sz="1575" dirty="0"/>
              <a:t>Conceitos</a:t>
            </a:r>
          </a:p>
          <a:p>
            <a:pPr lvl="1"/>
            <a:r>
              <a:rPr lang="pt-BR" sz="1575" dirty="0"/>
              <a:t>Associações entre conceitos</a:t>
            </a:r>
          </a:p>
          <a:p>
            <a:pPr lvl="2"/>
            <a:r>
              <a:rPr lang="pt-BR" sz="1575" dirty="0"/>
              <a:t>Relacionamento entre os conceitos</a:t>
            </a:r>
          </a:p>
          <a:p>
            <a:pPr lvl="1"/>
            <a:r>
              <a:rPr lang="pt-BR" sz="1575" dirty="0"/>
              <a:t>Atributos de conceitos</a:t>
            </a:r>
          </a:p>
          <a:p>
            <a:r>
              <a:rPr lang="pt-BR" sz="1575" dirty="0"/>
              <a:t>Conceitos</a:t>
            </a:r>
          </a:p>
          <a:p>
            <a:pPr lvl="1"/>
            <a:r>
              <a:rPr lang="pt-BR" sz="1575" dirty="0"/>
              <a:t>Ideias, coisas, objetos do mundo real</a:t>
            </a:r>
          </a:p>
          <a:p>
            <a:pPr lvl="1"/>
            <a:r>
              <a:rPr lang="pt-BR" sz="1575" dirty="0"/>
              <a:t>Não representam componentes de software</a:t>
            </a:r>
          </a:p>
          <a:p>
            <a:pPr lvl="1"/>
            <a:r>
              <a:rPr lang="pt-BR" sz="1575" dirty="0"/>
              <a:t>Não devem possuir atributos e métodos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0" y="483518"/>
            <a:ext cx="91440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Conceitual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188"/>
    </mc:Choice>
    <mc:Fallback xmlns="">
      <p:transition spd="slow" advTm="1031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347614"/>
            <a:ext cx="8712968" cy="3795886"/>
          </a:xfrm>
        </p:spPr>
        <p:txBody>
          <a:bodyPr>
            <a:noAutofit/>
          </a:bodyPr>
          <a:lstStyle/>
          <a:p>
            <a:r>
              <a:rPr lang="pt-BR" sz="1500" dirty="0"/>
              <a:t>Considere os substantivos e frases nominais na descrição do escopo</a:t>
            </a:r>
          </a:p>
          <a:p>
            <a:pPr lvl="1"/>
            <a:r>
              <a:rPr lang="pt-BR" sz="1500" dirty="0"/>
              <a:t>Cliente, venda, produto</a:t>
            </a:r>
          </a:p>
          <a:p>
            <a:r>
              <a:rPr lang="pt-BR" sz="1500" dirty="0"/>
              <a:t>Liste os conceitos candidatos e analise-os</a:t>
            </a:r>
          </a:p>
          <a:p>
            <a:r>
              <a:rPr lang="pt-BR" sz="1500" dirty="0"/>
              <a:t>Melhor especificar demais do que especificar pouco</a:t>
            </a:r>
          </a:p>
          <a:p>
            <a:endParaRPr lang="pt-BR" sz="1500" dirty="0"/>
          </a:p>
          <a:p>
            <a:r>
              <a:rPr lang="pt-BR" sz="1500" dirty="0"/>
              <a:t>Categoria de conceitos típicos</a:t>
            </a:r>
          </a:p>
          <a:p>
            <a:pPr lvl="1"/>
            <a:r>
              <a:rPr lang="pt-BR" sz="1500" dirty="0"/>
              <a:t>Objetos físicos ou tangíveis		</a:t>
            </a:r>
            <a:r>
              <a:rPr lang="pt-BR" sz="1500" dirty="0">
                <a:sym typeface="Wingdings" pitchFamily="2" charset="2"/>
              </a:rPr>
              <a:t>	livro, cinto, ERP, fome, doença</a:t>
            </a:r>
            <a:endParaRPr lang="pt-BR" sz="1500" dirty="0"/>
          </a:p>
          <a:p>
            <a:pPr lvl="1"/>
            <a:r>
              <a:rPr lang="pt-BR" sz="1500" dirty="0"/>
              <a:t>Lugares				</a:t>
            </a:r>
            <a:r>
              <a:rPr lang="pt-BR" sz="1500" dirty="0">
                <a:sym typeface="Wingdings" pitchFamily="2" charset="2"/>
              </a:rPr>
              <a:t>	loja, departamento, cidade</a:t>
            </a:r>
            <a:endParaRPr lang="pt-BR" sz="1500" dirty="0"/>
          </a:p>
          <a:p>
            <a:pPr lvl="1"/>
            <a:r>
              <a:rPr lang="pt-BR" sz="1500" dirty="0"/>
              <a:t>Transações				</a:t>
            </a:r>
            <a:r>
              <a:rPr lang="pt-BR" sz="1500" dirty="0">
                <a:sym typeface="Wingdings" pitchFamily="2" charset="2"/>
              </a:rPr>
              <a:t>	venda, pedido, produção</a:t>
            </a:r>
            <a:endParaRPr lang="pt-BR" sz="1500" dirty="0"/>
          </a:p>
          <a:p>
            <a:pPr lvl="1"/>
            <a:r>
              <a:rPr lang="pt-BR" sz="1500" dirty="0"/>
              <a:t>Itens de transações/agrupamentos		</a:t>
            </a:r>
            <a:r>
              <a:rPr lang="pt-BR" sz="1500" dirty="0">
                <a:sym typeface="Wingdings" pitchFamily="2" charset="2"/>
              </a:rPr>
              <a:t>	itens de venda, itens do pedido</a:t>
            </a:r>
            <a:endParaRPr lang="pt-BR" sz="1500" dirty="0"/>
          </a:p>
          <a:p>
            <a:pPr lvl="1"/>
            <a:r>
              <a:rPr lang="pt-BR" sz="1500" dirty="0"/>
              <a:t>Papéis				</a:t>
            </a:r>
            <a:r>
              <a:rPr lang="pt-BR" sz="1500" dirty="0">
                <a:sym typeface="Wingdings" pitchFamily="2" charset="2"/>
              </a:rPr>
              <a:t>	administrador, caixa, cliente</a:t>
            </a:r>
            <a:endParaRPr lang="pt-BR" sz="1500" dirty="0"/>
          </a:p>
          <a:p>
            <a:pPr lvl="1"/>
            <a:r>
              <a:rPr lang="pt-BR" sz="1500" dirty="0"/>
              <a:t>Agrupamento de objetos			</a:t>
            </a:r>
            <a:r>
              <a:rPr lang="pt-BR" sz="1500" dirty="0">
                <a:sym typeface="Wingdings" pitchFamily="2" charset="2"/>
              </a:rPr>
              <a:t>	caixa, container</a:t>
            </a:r>
          </a:p>
          <a:p>
            <a:pPr lvl="1"/>
            <a:endParaRPr lang="pt-BR" sz="1500" dirty="0"/>
          </a:p>
          <a:p>
            <a:pPr lvl="1"/>
            <a:endParaRPr lang="pt-BR" sz="1500" dirty="0"/>
          </a:p>
        </p:txBody>
      </p:sp>
      <p:sp>
        <p:nvSpPr>
          <p:cNvPr id="5" name="Retângulo 4"/>
          <p:cNvSpPr/>
          <p:nvPr/>
        </p:nvSpPr>
        <p:spPr>
          <a:xfrm>
            <a:off x="35496" y="504056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Identificar Conceitos/Objetos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259"/>
    </mc:Choice>
    <mc:Fallback xmlns="">
      <p:transition spd="slow" advTm="15825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6155" y="1779662"/>
            <a:ext cx="8856984" cy="3939902"/>
          </a:xfrm>
        </p:spPr>
        <p:txBody>
          <a:bodyPr>
            <a:noAutofit/>
          </a:bodyPr>
          <a:lstStyle/>
          <a:p>
            <a:pPr lvl="1"/>
            <a:r>
              <a:rPr lang="pt-BR" sz="1575" dirty="0"/>
              <a:t>Liste os conceitos candidatos</a:t>
            </a:r>
          </a:p>
          <a:p>
            <a:pPr lvl="1"/>
            <a:r>
              <a:rPr lang="pt-BR" sz="1575" dirty="0"/>
              <a:t>Verifique mapeamento com os casos de uso e domínio do problema</a:t>
            </a:r>
          </a:p>
          <a:p>
            <a:pPr lvl="1"/>
            <a:r>
              <a:rPr lang="pt-BR" sz="1575" dirty="0"/>
              <a:t>Excluir o que não aparecer no domínio do problema</a:t>
            </a:r>
          </a:p>
          <a:p>
            <a:pPr lvl="1"/>
            <a:r>
              <a:rPr lang="pt-BR" sz="1575" dirty="0"/>
              <a:t>Ficar atento aos atributos que erroneamente foram inseridos como objetos</a:t>
            </a:r>
          </a:p>
          <a:p>
            <a:pPr lvl="1"/>
            <a:r>
              <a:rPr lang="pt-BR" sz="1575" dirty="0"/>
              <a:t>Excesso de associações podem deixar o modelo confuso e poluído</a:t>
            </a:r>
          </a:p>
          <a:p>
            <a:pPr lvl="2"/>
            <a:r>
              <a:rPr lang="pt-BR" sz="1575" dirty="0"/>
              <a:t>mensurar</a:t>
            </a:r>
          </a:p>
          <a:p>
            <a:endParaRPr lang="pt-BR" sz="1575" dirty="0">
              <a:sym typeface="Wingdings" pitchFamily="2" charset="2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4391" y="483518"/>
            <a:ext cx="9180512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Dicas para um bom modelo conceitual</a:t>
            </a:r>
          </a:p>
        </p:txBody>
      </p:sp>
    </p:spTree>
    <p:extLst>
      <p:ext uri="{BB962C8B-B14F-4D97-AF65-F5344CB8AC3E}">
        <p14:creationId xmlns:p14="http://schemas.microsoft.com/office/powerpoint/2010/main" val="29299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535"/>
    </mc:Choice>
    <mc:Fallback xmlns="">
      <p:transition spd="slow" advTm="905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202181"/>
            <a:ext cx="4320480" cy="2467167"/>
          </a:xfrm>
        </p:spPr>
        <p:txBody>
          <a:bodyPr>
            <a:noAutofit/>
          </a:bodyPr>
          <a:lstStyle/>
          <a:p>
            <a:r>
              <a:rPr lang="pt-BR" sz="1575" dirty="0"/>
              <a:t>Associação</a:t>
            </a:r>
          </a:p>
          <a:p>
            <a:pPr lvl="1"/>
            <a:r>
              <a:rPr lang="pt-BR" sz="1575" dirty="0"/>
              <a:t>Os objetos de um item conecta-se a objetos de outro item</a:t>
            </a:r>
          </a:p>
          <a:p>
            <a:pPr lvl="2"/>
            <a:r>
              <a:rPr lang="pt-BR" sz="1575" dirty="0"/>
              <a:t>Nome, papel, multiplicidade, direção</a:t>
            </a:r>
          </a:p>
        </p:txBody>
      </p:sp>
      <p:sp>
        <p:nvSpPr>
          <p:cNvPr id="9" name="Retângulo 8"/>
          <p:cNvSpPr/>
          <p:nvPr/>
        </p:nvSpPr>
        <p:spPr>
          <a:xfrm>
            <a:off x="24446" y="358623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Associação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F36AD4B-8990-4D19-BEDA-07A9530A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059582"/>
            <a:ext cx="3682492" cy="3355690"/>
          </a:xfrm>
          <a:prstGeom prst="rect">
            <a:avLst/>
          </a:prstGeom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0335AF84-1550-4145-92EA-22A3B5D0F603}"/>
              </a:ext>
            </a:extLst>
          </p:cNvPr>
          <p:cNvSpPr txBox="1">
            <a:spLocks/>
          </p:cNvSpPr>
          <p:nvPr/>
        </p:nvSpPr>
        <p:spPr>
          <a:xfrm>
            <a:off x="107504" y="2486476"/>
            <a:ext cx="2952328" cy="23657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 err="1"/>
              <a:t>public</a:t>
            </a:r>
            <a:r>
              <a:rPr lang="pt-BR" sz="1650" dirty="0"/>
              <a:t> </a:t>
            </a:r>
            <a:r>
              <a:rPr lang="pt-BR" sz="1650" dirty="0" err="1"/>
              <a:t>class</a:t>
            </a:r>
            <a:r>
              <a:rPr lang="pt-BR" sz="1650" dirty="0"/>
              <a:t> Cliente 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/>
              <a:t>{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endParaRPr lang="pt-BR" sz="1650" dirty="0"/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/>
              <a:t>}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endParaRPr lang="pt-BR" sz="1650" dirty="0"/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 err="1"/>
              <a:t>public</a:t>
            </a:r>
            <a:r>
              <a:rPr lang="pt-BR" sz="1650" dirty="0"/>
              <a:t> </a:t>
            </a:r>
            <a:r>
              <a:rPr lang="pt-BR" sz="1650" dirty="0" err="1"/>
              <a:t>class</a:t>
            </a:r>
            <a:r>
              <a:rPr lang="pt-BR" sz="1650" dirty="0"/>
              <a:t> Venda 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/>
              <a:t>{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/>
              <a:t>	</a:t>
            </a:r>
            <a:r>
              <a:rPr lang="pt-BR" sz="1650" dirty="0" err="1"/>
              <a:t>private</a:t>
            </a:r>
            <a:r>
              <a:rPr lang="pt-BR" sz="1650" dirty="0"/>
              <a:t> Cliente </a:t>
            </a:r>
            <a:r>
              <a:rPr lang="pt-BR" sz="1650" dirty="0" err="1"/>
              <a:t>cli</a:t>
            </a:r>
            <a:r>
              <a:rPr lang="pt-BR" sz="1650" dirty="0"/>
              <a:t>;	 </a:t>
            </a:r>
          </a:p>
          <a:p>
            <a:pPr lvl="1">
              <a:spcBef>
                <a:spcPts val="0"/>
              </a:spcBef>
              <a:buFont typeface="Arial" pitchFamily="34" charset="0"/>
              <a:buNone/>
            </a:pPr>
            <a:r>
              <a:rPr lang="pt-BR" sz="1650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311"/>
    </mc:Choice>
    <mc:Fallback xmlns="">
      <p:transition spd="slow" advTm="1413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9588" y="1707654"/>
            <a:ext cx="7677472" cy="4286262"/>
          </a:xfrm>
        </p:spPr>
        <p:txBody>
          <a:bodyPr>
            <a:noAutofit/>
          </a:bodyPr>
          <a:lstStyle/>
          <a:p>
            <a:r>
              <a:rPr lang="pt-BR" sz="1650" dirty="0"/>
              <a:t>A multiplicidade de uma classe é o número de instâncias possíveis que uma classe pode ter considerando uma única instância da outra classe a qual ela é associada. Em outras palavras, é o número de objetos de uma classe que pode relacionar com um único objeto de outra classe.</a:t>
            </a:r>
          </a:p>
          <a:p>
            <a:pPr lvl="1"/>
            <a:r>
              <a:rPr lang="pt-BR" sz="1650" dirty="0"/>
              <a:t>1 </a:t>
            </a:r>
            <a:r>
              <a:rPr lang="pt-BR" sz="1650" dirty="0">
                <a:sym typeface="Wingdings" panose="05000000000000000000" pitchFamily="2" charset="2"/>
              </a:rPr>
              <a:t></a:t>
            </a:r>
            <a:r>
              <a:rPr lang="pt-BR" sz="1650" dirty="0"/>
              <a:t>   0..1 	Uma instância opcional. </a:t>
            </a:r>
          </a:p>
          <a:p>
            <a:pPr lvl="1"/>
            <a:r>
              <a:rPr lang="pt-BR" sz="1650" dirty="0"/>
              <a:t>1 </a:t>
            </a:r>
            <a:r>
              <a:rPr lang="pt-BR" sz="1650" dirty="0">
                <a:sym typeface="Wingdings" panose="05000000000000000000" pitchFamily="2" charset="2"/>
              </a:rPr>
              <a:t></a:t>
            </a:r>
            <a:r>
              <a:rPr lang="pt-BR" sz="1650" dirty="0"/>
              <a:t>  1		Exatamente uma instância. </a:t>
            </a:r>
          </a:p>
          <a:p>
            <a:pPr lvl="1"/>
            <a:r>
              <a:rPr lang="pt-BR" sz="1650" dirty="0"/>
              <a:t>1 </a:t>
            </a:r>
            <a:r>
              <a:rPr lang="pt-BR" sz="1650" dirty="0">
                <a:sym typeface="Wingdings" panose="05000000000000000000" pitchFamily="2" charset="2"/>
              </a:rPr>
              <a:t></a:t>
            </a:r>
            <a:r>
              <a:rPr lang="pt-BR" sz="1650" dirty="0"/>
              <a:t>   0..* 	Zero ou mais instâncias. </a:t>
            </a:r>
          </a:p>
          <a:p>
            <a:pPr lvl="1"/>
            <a:r>
              <a:rPr lang="pt-BR" sz="1650" dirty="0"/>
              <a:t>1 </a:t>
            </a:r>
            <a:r>
              <a:rPr lang="pt-BR" sz="1650" dirty="0">
                <a:sym typeface="Wingdings" panose="05000000000000000000" pitchFamily="2" charset="2"/>
              </a:rPr>
              <a:t></a:t>
            </a:r>
            <a:r>
              <a:rPr lang="pt-BR" sz="1650" dirty="0"/>
              <a:t>   1..* 	Pelo menos uma instância. </a:t>
            </a:r>
          </a:p>
          <a:p>
            <a:pPr lvl="1"/>
            <a:endParaRPr lang="pt-BR" sz="1650" dirty="0"/>
          </a:p>
        </p:txBody>
      </p:sp>
      <p:sp>
        <p:nvSpPr>
          <p:cNvPr id="4" name="Retângulo 3"/>
          <p:cNvSpPr/>
          <p:nvPr/>
        </p:nvSpPr>
        <p:spPr>
          <a:xfrm>
            <a:off x="0" y="411510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- Multiplicidade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04"/>
    </mc:Choice>
    <mc:Fallback xmlns="">
      <p:transition spd="slow" advTm="4700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275606"/>
            <a:ext cx="7893496" cy="3867894"/>
          </a:xfrm>
        </p:spPr>
        <p:txBody>
          <a:bodyPr>
            <a:noAutofit/>
          </a:bodyPr>
          <a:lstStyle/>
          <a:p>
            <a:r>
              <a:rPr lang="pt-BR" sz="1575" dirty="0"/>
              <a:t>Generalização</a:t>
            </a:r>
          </a:p>
          <a:p>
            <a:pPr lvl="1"/>
            <a:r>
              <a:rPr lang="pt-BR" sz="1575" dirty="0"/>
              <a:t>Os objetos especializados (filhos) possuem as mesmas características do objeto do qual foi especializado (pai)</a:t>
            </a:r>
          </a:p>
        </p:txBody>
      </p:sp>
      <p:sp>
        <p:nvSpPr>
          <p:cNvPr id="6" name="Retângulo 5"/>
          <p:cNvSpPr/>
          <p:nvPr/>
        </p:nvSpPr>
        <p:spPr>
          <a:xfrm>
            <a:off x="-4402" y="548656"/>
            <a:ext cx="9148401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Generalização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7862" y="2147516"/>
            <a:ext cx="2679585" cy="251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277" y="2330904"/>
            <a:ext cx="2679585" cy="2263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8E85FF2-655B-4574-A590-5065E3D5C168}"/>
              </a:ext>
            </a:extLst>
          </p:cNvPr>
          <p:cNvSpPr txBox="1">
            <a:spLocks/>
          </p:cNvSpPr>
          <p:nvPr/>
        </p:nvSpPr>
        <p:spPr>
          <a:xfrm>
            <a:off x="5681122" y="2124923"/>
            <a:ext cx="3172597" cy="26790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pt-BR" sz="1575" dirty="0" err="1"/>
              <a:t>public</a:t>
            </a:r>
            <a:r>
              <a:rPr lang="pt-BR" sz="1575" dirty="0"/>
              <a:t> </a:t>
            </a:r>
            <a:r>
              <a:rPr lang="pt-BR" sz="1575" dirty="0" err="1"/>
              <a:t>class</a:t>
            </a:r>
            <a:r>
              <a:rPr lang="pt-BR" sz="1575" dirty="0"/>
              <a:t> Pessoa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 {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 }</a:t>
            </a:r>
          </a:p>
          <a:p>
            <a:pPr>
              <a:buFont typeface="Arial" pitchFamily="34" charset="0"/>
              <a:buNone/>
            </a:pPr>
            <a:r>
              <a:rPr lang="pt-BR" sz="1575" dirty="0" err="1"/>
              <a:t>public</a:t>
            </a:r>
            <a:r>
              <a:rPr lang="pt-BR" sz="1575" dirty="0"/>
              <a:t> </a:t>
            </a:r>
            <a:r>
              <a:rPr lang="pt-BR" sz="1575" dirty="0" err="1"/>
              <a:t>class</a:t>
            </a:r>
            <a:r>
              <a:rPr lang="pt-BR" sz="1575" dirty="0"/>
              <a:t> </a:t>
            </a:r>
            <a:r>
              <a:rPr lang="pt-BR" sz="1575" dirty="0" err="1"/>
              <a:t>Juridica</a:t>
            </a:r>
            <a:r>
              <a:rPr lang="pt-BR" sz="1575" dirty="0"/>
              <a:t> </a:t>
            </a:r>
            <a:r>
              <a:rPr lang="pt-BR" sz="1575" b="1" dirty="0" err="1"/>
              <a:t>extends</a:t>
            </a:r>
            <a:r>
              <a:rPr lang="pt-BR" sz="1575" dirty="0"/>
              <a:t> Pessoa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 {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} </a:t>
            </a:r>
          </a:p>
          <a:p>
            <a:pPr>
              <a:buFont typeface="Arial" pitchFamily="34" charset="0"/>
              <a:buNone/>
            </a:pPr>
            <a:r>
              <a:rPr lang="pt-BR" sz="1575" dirty="0" err="1"/>
              <a:t>public</a:t>
            </a:r>
            <a:r>
              <a:rPr lang="pt-BR" sz="1575" dirty="0"/>
              <a:t> </a:t>
            </a:r>
            <a:r>
              <a:rPr lang="pt-BR" sz="1575" dirty="0" err="1"/>
              <a:t>class</a:t>
            </a:r>
            <a:r>
              <a:rPr lang="pt-BR" sz="1575" dirty="0"/>
              <a:t> </a:t>
            </a:r>
            <a:r>
              <a:rPr lang="pt-BR" sz="1575" dirty="0" err="1"/>
              <a:t>Fisica</a:t>
            </a:r>
            <a:r>
              <a:rPr lang="pt-BR" sz="1575" dirty="0"/>
              <a:t> </a:t>
            </a:r>
            <a:r>
              <a:rPr lang="pt-BR" sz="1575" b="1" dirty="0" err="1"/>
              <a:t>extends</a:t>
            </a:r>
            <a:r>
              <a:rPr lang="pt-BR" sz="1575" b="1" dirty="0"/>
              <a:t> </a:t>
            </a:r>
            <a:r>
              <a:rPr lang="pt-BR" sz="1575" dirty="0"/>
              <a:t>Pessoa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 {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}</a:t>
            </a:r>
          </a:p>
          <a:p>
            <a:pPr>
              <a:buFont typeface="Arial" pitchFamily="34" charset="0"/>
              <a:buNone/>
            </a:pPr>
            <a:r>
              <a:rPr lang="pt-BR" sz="1575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636"/>
    </mc:Choice>
    <mc:Fallback xmlns="">
      <p:transition spd="slow" advTm="17463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47614"/>
            <a:ext cx="7749480" cy="3795886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Tx/>
              <a:buChar char="•"/>
            </a:pPr>
            <a:r>
              <a:rPr lang="pt-BR" sz="1575" dirty="0"/>
              <a:t>Agregação – relacionamento fraco</a:t>
            </a:r>
          </a:p>
          <a:p>
            <a:pPr lvl="1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 A agregação indica que uma das classes do relacionamento é uma parte, ou está contida em outra classe</a:t>
            </a:r>
          </a:p>
          <a:p>
            <a:pPr lvl="2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consiste em, contém, é parte de</a:t>
            </a:r>
          </a:p>
          <a:p>
            <a:pPr lvl="1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Pode existir a parte (navios) sem a existência do todo (marinha)</a:t>
            </a:r>
          </a:p>
          <a:p>
            <a:pPr lvl="2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O objeto parte “sobrevive” sem o objeto todo</a:t>
            </a:r>
          </a:p>
        </p:txBody>
      </p:sp>
      <p:grpSp>
        <p:nvGrpSpPr>
          <p:cNvPr id="4" name="Grupo 6"/>
          <p:cNvGrpSpPr/>
          <p:nvPr/>
        </p:nvGrpSpPr>
        <p:grpSpPr>
          <a:xfrm>
            <a:off x="2267744" y="3115310"/>
            <a:ext cx="4266474" cy="1361154"/>
            <a:chOff x="1475656" y="3861048"/>
            <a:chExt cx="5688632" cy="181487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75656" y="3861048"/>
              <a:ext cx="5688632" cy="181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CaixaDeTexto 4"/>
            <p:cNvSpPr txBox="1"/>
            <p:nvPr/>
          </p:nvSpPr>
          <p:spPr>
            <a:xfrm>
              <a:off x="3203848" y="4221088"/>
              <a:ext cx="648072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/>
                <a:t>1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4932040" y="4221088"/>
              <a:ext cx="720080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/>
                <a:t>1..*</a:t>
              </a:r>
            </a:p>
          </p:txBody>
        </p:sp>
      </p:grpSp>
      <p:sp>
        <p:nvSpPr>
          <p:cNvPr id="9" name="Retângulo 8"/>
          <p:cNvSpPr/>
          <p:nvPr/>
        </p:nvSpPr>
        <p:spPr>
          <a:xfrm>
            <a:off x="0" y="504056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Agregação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97"/>
    </mc:Choice>
    <mc:Fallback xmlns="">
      <p:transition spd="slow" advTm="965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9474" y="1400727"/>
            <a:ext cx="6858000" cy="428626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Tx/>
              <a:buChar char="•"/>
            </a:pPr>
            <a:r>
              <a:rPr lang="pt-BR" sz="1575" dirty="0"/>
              <a:t>Composição – relacionamento forte</a:t>
            </a:r>
          </a:p>
          <a:p>
            <a:pPr lvl="1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Relacionamento entre um elemento (o todo) e outros elementos (as partes) onde as partes pertencem ao todo e são criadas e destruídas com ele </a:t>
            </a:r>
          </a:p>
          <a:p>
            <a:pPr lvl="1" algn="just">
              <a:lnSpc>
                <a:spcPct val="90000"/>
              </a:lnSpc>
              <a:buFontTx/>
              <a:buChar char="–"/>
            </a:pPr>
            <a:r>
              <a:rPr lang="pt-BR" sz="1575" dirty="0"/>
              <a:t>O objeto parte não “sobrevive” sem o objeto todo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7695" y="2841780"/>
            <a:ext cx="5203637" cy="1404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3005826" y="3111810"/>
            <a:ext cx="594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1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896036" y="3165816"/>
            <a:ext cx="4320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1..*</a:t>
            </a:r>
          </a:p>
        </p:txBody>
      </p:sp>
      <p:sp>
        <p:nvSpPr>
          <p:cNvPr id="8" name="Retângulo 7"/>
          <p:cNvSpPr/>
          <p:nvPr/>
        </p:nvSpPr>
        <p:spPr>
          <a:xfrm>
            <a:off x="0" y="475785"/>
            <a:ext cx="9143999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Composição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097"/>
    </mc:Choice>
    <mc:Fallback xmlns="">
      <p:transition spd="slow" advTm="10209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03598"/>
            <a:ext cx="8784976" cy="428626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Tx/>
              <a:buChar char="•"/>
            </a:pPr>
            <a:r>
              <a:rPr lang="pt-BR" sz="1575" dirty="0"/>
              <a:t>Classe Associativa</a:t>
            </a:r>
          </a:p>
          <a:p>
            <a:pPr lvl="1" algn="just">
              <a:lnSpc>
                <a:spcPct val="90000"/>
              </a:lnSpc>
              <a:buFontTx/>
              <a:buChar char="•"/>
            </a:pPr>
            <a:r>
              <a:rPr lang="pt-BR" sz="1275" dirty="0"/>
              <a:t>Algumas associações do tipo  muitos para muitos necessitam da resolução deste relacionamento criando uma classe associativa entre as duas classes associadas</a:t>
            </a:r>
          </a:p>
          <a:p>
            <a:pPr lvl="1" algn="just">
              <a:lnSpc>
                <a:spcPct val="90000"/>
              </a:lnSpc>
              <a:buFontTx/>
              <a:buChar char="•"/>
            </a:pPr>
            <a:endParaRPr lang="pt-BR" sz="1275" dirty="0"/>
          </a:p>
        </p:txBody>
      </p:sp>
      <p:sp>
        <p:nvSpPr>
          <p:cNvPr id="7" name="Retângulo 6"/>
          <p:cNvSpPr/>
          <p:nvPr/>
        </p:nvSpPr>
        <p:spPr>
          <a:xfrm>
            <a:off x="0" y="468216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Classe associativa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F6FED5-5D07-4881-8BA4-A4FAFF655574}"/>
              </a:ext>
            </a:extLst>
          </p:cNvPr>
          <p:cNvSpPr/>
          <p:nvPr/>
        </p:nvSpPr>
        <p:spPr>
          <a:xfrm>
            <a:off x="2699792" y="2643758"/>
            <a:ext cx="360040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C64D303-3226-4D8D-9E4C-5F3BA798077C}"/>
              </a:ext>
            </a:extLst>
          </p:cNvPr>
          <p:cNvSpPr/>
          <p:nvPr/>
        </p:nvSpPr>
        <p:spPr>
          <a:xfrm>
            <a:off x="2830928" y="3480234"/>
            <a:ext cx="360040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87DF872-7284-4332-A927-F85FD7BA6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014196"/>
            <a:ext cx="6010573" cy="25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8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012"/>
    </mc:Choice>
    <mc:Fallback xmlns="">
      <p:transition spd="slow" advTm="27301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5137028" y="1222615"/>
            <a:ext cx="3759744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350" dirty="0" err="1"/>
              <a:t>public</a:t>
            </a:r>
            <a:r>
              <a:rPr lang="pt-BR" sz="1350" dirty="0"/>
              <a:t> </a:t>
            </a:r>
            <a:r>
              <a:rPr lang="pt-BR" sz="1350" dirty="0" err="1"/>
              <a:t>class</a:t>
            </a:r>
            <a:r>
              <a:rPr lang="pt-BR" sz="1350" dirty="0"/>
              <a:t> Produto </a:t>
            </a:r>
          </a:p>
          <a:p>
            <a:r>
              <a:rPr lang="pt-BR" sz="1350" dirty="0"/>
              <a:t>{</a:t>
            </a:r>
          </a:p>
          <a:p>
            <a:r>
              <a:rPr lang="pt-BR" sz="1350" dirty="0"/>
              <a:t> </a:t>
            </a:r>
          </a:p>
          <a:p>
            <a:r>
              <a:rPr lang="pt-BR" sz="1350" dirty="0"/>
              <a:t>}</a:t>
            </a:r>
          </a:p>
        </p:txBody>
      </p:sp>
      <p:sp>
        <p:nvSpPr>
          <p:cNvPr id="7" name="Retângulo 6"/>
          <p:cNvSpPr/>
          <p:nvPr/>
        </p:nvSpPr>
        <p:spPr>
          <a:xfrm>
            <a:off x="251520" y="3735748"/>
            <a:ext cx="2700300" cy="11310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350" dirty="0" err="1"/>
              <a:t>public</a:t>
            </a:r>
            <a:r>
              <a:rPr lang="pt-BR" sz="1350" dirty="0"/>
              <a:t> </a:t>
            </a:r>
            <a:r>
              <a:rPr lang="pt-BR" sz="1350" dirty="0" err="1"/>
              <a:t>class</a:t>
            </a:r>
            <a:r>
              <a:rPr lang="pt-BR" sz="1350" dirty="0"/>
              <a:t> </a:t>
            </a:r>
            <a:r>
              <a:rPr lang="pt-BR" sz="1350" dirty="0" err="1"/>
              <a:t>Itens_da_Venda</a:t>
            </a:r>
            <a:r>
              <a:rPr lang="pt-BR" sz="1350" dirty="0"/>
              <a:t> </a:t>
            </a:r>
          </a:p>
          <a:p>
            <a:r>
              <a:rPr lang="pt-BR" sz="1350" dirty="0"/>
              <a:t>{</a:t>
            </a:r>
          </a:p>
          <a:p>
            <a:r>
              <a:rPr lang="pt-BR" sz="1350" dirty="0"/>
              <a:t>   </a:t>
            </a:r>
            <a:r>
              <a:rPr lang="pt-BR" sz="1350" dirty="0" err="1"/>
              <a:t>private</a:t>
            </a:r>
            <a:r>
              <a:rPr lang="pt-BR" sz="1350" dirty="0"/>
              <a:t> Produto </a:t>
            </a:r>
            <a:r>
              <a:rPr lang="pt-BR" sz="1350" dirty="0" err="1"/>
              <a:t>prod</a:t>
            </a:r>
            <a:r>
              <a:rPr lang="pt-BR" sz="1350" dirty="0"/>
              <a:t>;</a:t>
            </a:r>
          </a:p>
          <a:p>
            <a:r>
              <a:rPr lang="pt-BR" sz="1350" dirty="0"/>
              <a:t>   </a:t>
            </a:r>
            <a:r>
              <a:rPr lang="pt-BR" sz="1350" dirty="0" err="1"/>
              <a:t>private</a:t>
            </a:r>
            <a:r>
              <a:rPr lang="pt-BR" sz="1350" dirty="0"/>
              <a:t> Venda </a:t>
            </a:r>
            <a:r>
              <a:rPr lang="pt-BR" sz="1350" dirty="0" err="1"/>
              <a:t>ven</a:t>
            </a:r>
            <a:r>
              <a:rPr lang="pt-BR" sz="1350" dirty="0"/>
              <a:t>; </a:t>
            </a:r>
          </a:p>
          <a:p>
            <a:r>
              <a:rPr lang="pt-BR" sz="1350" dirty="0"/>
              <a:t>}</a:t>
            </a:r>
          </a:p>
        </p:txBody>
      </p:sp>
      <p:sp>
        <p:nvSpPr>
          <p:cNvPr id="9" name="Retângulo 8"/>
          <p:cNvSpPr/>
          <p:nvPr/>
        </p:nvSpPr>
        <p:spPr>
          <a:xfrm>
            <a:off x="179512" y="1750168"/>
            <a:ext cx="3528392" cy="11310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350" dirty="0" err="1"/>
              <a:t>public</a:t>
            </a:r>
            <a:r>
              <a:rPr lang="pt-BR" sz="1350" dirty="0"/>
              <a:t> </a:t>
            </a:r>
            <a:r>
              <a:rPr lang="pt-BR" sz="1350" dirty="0" err="1"/>
              <a:t>class</a:t>
            </a:r>
            <a:r>
              <a:rPr lang="pt-BR" sz="1350" dirty="0"/>
              <a:t> Venda</a:t>
            </a:r>
          </a:p>
          <a:p>
            <a:r>
              <a:rPr lang="pt-BR" sz="1350" dirty="0"/>
              <a:t> {</a:t>
            </a:r>
          </a:p>
          <a:p>
            <a:r>
              <a:rPr lang="pt-BR" sz="1350" dirty="0"/>
              <a:t>    </a:t>
            </a:r>
            <a:r>
              <a:rPr lang="pt-BR" sz="1350" dirty="0" err="1"/>
              <a:t>private</a:t>
            </a:r>
            <a:r>
              <a:rPr lang="pt-BR" sz="1350" dirty="0"/>
              <a:t> </a:t>
            </a:r>
            <a:r>
              <a:rPr lang="pt-BR" sz="1350" dirty="0" err="1"/>
              <a:t>Collection</a:t>
            </a:r>
            <a:r>
              <a:rPr lang="pt-BR" sz="1350" dirty="0"/>
              <a:t>&lt; </a:t>
            </a:r>
            <a:r>
              <a:rPr lang="pt-BR" sz="1350" dirty="0" err="1"/>
              <a:t>Itens_da_Venda</a:t>
            </a:r>
            <a:r>
              <a:rPr lang="pt-BR" sz="1350" dirty="0"/>
              <a:t>&gt; </a:t>
            </a:r>
            <a:r>
              <a:rPr lang="pt-BR" sz="1350" dirty="0" err="1"/>
              <a:t>itvenda</a:t>
            </a:r>
            <a:r>
              <a:rPr lang="pt-BR" sz="1350" dirty="0"/>
              <a:t>; </a:t>
            </a:r>
          </a:p>
          <a:p>
            <a:r>
              <a:rPr lang="pt-BR" sz="1350" dirty="0"/>
              <a:t>    </a:t>
            </a:r>
            <a:r>
              <a:rPr lang="pt-BR" sz="1350" dirty="0" err="1"/>
              <a:t>private</a:t>
            </a:r>
            <a:r>
              <a:rPr lang="pt-BR" sz="1350" dirty="0"/>
              <a:t> Cliente </a:t>
            </a:r>
            <a:r>
              <a:rPr lang="pt-BR" sz="1350" dirty="0" err="1"/>
              <a:t>cli</a:t>
            </a:r>
            <a:r>
              <a:rPr lang="pt-BR" sz="1350" dirty="0"/>
              <a:t>;	 </a:t>
            </a:r>
          </a:p>
          <a:p>
            <a:r>
              <a:rPr lang="pt-BR" sz="1350" dirty="0"/>
              <a:t>}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0" y="503971"/>
            <a:ext cx="9144000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Relacionamentos – Classe associativa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7CD0F3-6AAC-4BE3-B9A5-1A6445BCD6A4}"/>
              </a:ext>
            </a:extLst>
          </p:cNvPr>
          <p:cNvSpPr/>
          <p:nvPr/>
        </p:nvSpPr>
        <p:spPr>
          <a:xfrm>
            <a:off x="3590304" y="3492291"/>
            <a:ext cx="360040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6C26571-1B0D-4A06-96AA-69042865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35" y="2200359"/>
            <a:ext cx="5071345" cy="21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5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0"/>
    </mc:Choice>
    <mc:Fallback xmlns="">
      <p:transition spd="slow" advTm="7352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6155" y="1491630"/>
            <a:ext cx="4961909" cy="3939902"/>
          </a:xfrm>
        </p:spPr>
        <p:txBody>
          <a:bodyPr>
            <a:noAutofit/>
          </a:bodyPr>
          <a:lstStyle/>
          <a:p>
            <a:r>
              <a:rPr lang="pt-BR" sz="1575" dirty="0"/>
              <a:t>Atributo utilizado como conceito/objeto</a:t>
            </a:r>
          </a:p>
          <a:p>
            <a:pPr lvl="1"/>
            <a:r>
              <a:rPr lang="pt-BR" sz="1575" dirty="0"/>
              <a:t>Atributos normalmente corresponde a um texto ou número no mundo real</a:t>
            </a:r>
          </a:p>
          <a:p>
            <a:pPr lvl="2"/>
            <a:r>
              <a:rPr lang="pt-BR" sz="1575" dirty="0"/>
              <a:t>Não devem ser vistos como objeto</a:t>
            </a:r>
          </a:p>
          <a:p>
            <a:pPr lvl="1"/>
            <a:r>
              <a:rPr lang="pt-BR" sz="1575" dirty="0"/>
              <a:t>Exemplo: Estoque de produto</a:t>
            </a:r>
          </a:p>
          <a:p>
            <a:pPr lvl="3"/>
            <a:r>
              <a:rPr lang="pt-BR" sz="1575" dirty="0"/>
              <a:t>Quantidade disponível do produto </a:t>
            </a:r>
            <a:r>
              <a:rPr lang="pt-BR" sz="1575" dirty="0">
                <a:sym typeface="Wingdings" pitchFamily="2" charset="2"/>
              </a:rPr>
              <a:t> atributo do objeto produto</a:t>
            </a:r>
          </a:p>
          <a:p>
            <a:pPr marL="1371600" lvl="3" indent="0">
              <a:buNone/>
            </a:pPr>
            <a:r>
              <a:rPr lang="pt-BR" sz="1575" dirty="0">
                <a:sym typeface="Wingdings" pitchFamily="2" charset="2"/>
              </a:rPr>
              <a:t>OBS: apenas é um objeto quando indica lugar/loca de armazenamento e quando possui mais de um local. </a:t>
            </a:r>
            <a:r>
              <a:rPr lang="pt-BR" sz="1575" dirty="0" err="1">
                <a:sym typeface="Wingdings" pitchFamily="2" charset="2"/>
              </a:rPr>
              <a:t>Ex</a:t>
            </a:r>
            <a:r>
              <a:rPr lang="pt-BR" sz="1575" dirty="0">
                <a:sym typeface="Wingdings" pitchFamily="2" charset="2"/>
              </a:rPr>
              <a:t>: Prudente, </a:t>
            </a:r>
            <a:r>
              <a:rPr lang="pt-BR" sz="1575" dirty="0" err="1">
                <a:sym typeface="Wingdings" pitchFamily="2" charset="2"/>
              </a:rPr>
              <a:t>Pirapó</a:t>
            </a:r>
            <a:r>
              <a:rPr lang="pt-BR" sz="1575" dirty="0">
                <a:sym typeface="Wingdings" pitchFamily="2" charset="2"/>
              </a:rPr>
              <a:t>, Venceslau, São Paulo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391" y="483518"/>
            <a:ext cx="9180512" cy="84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pt-BR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Identificar Conceitos/Objetos – Erro comum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4445A08-3E9D-42CF-8470-AD13F1ED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2883024"/>
            <a:ext cx="3953797" cy="219579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C54571A-2F7A-4F26-A787-E6E1B9904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214"/>
          <a:stretch/>
        </p:blipFill>
        <p:spPr>
          <a:xfrm>
            <a:off x="6372200" y="1139681"/>
            <a:ext cx="1823570" cy="174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5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509"/>
    </mc:Choice>
    <mc:Fallback xmlns="">
      <p:transition spd="slow" advTm="13450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77FA-7DF7-1DF6-EF36-B9E20D3C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B47358-4C90-9057-C15E-D94EAE512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13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A2B3F8A2-BD82-3829-B403-6F5190D9B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" y="2139702"/>
            <a:ext cx="9144000" cy="642938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pPr>
              <a:defRPr/>
            </a:pPr>
            <a:r>
              <a:rPr lang="pt-BR" altLang="pt-BR" dirty="0"/>
              <a:t>Estudo de caso</a:t>
            </a:r>
          </a:p>
        </p:txBody>
      </p:sp>
    </p:spTree>
    <p:extLst>
      <p:ext uri="{BB962C8B-B14F-4D97-AF65-F5344CB8AC3E}">
        <p14:creationId xmlns:p14="http://schemas.microsoft.com/office/powerpoint/2010/main" val="335679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44679B-F809-4CED-8E78-DB6CEE086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14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D9C12D1-3C17-4036-A185-B5B2F2268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6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O sistema </a:t>
            </a:r>
            <a:r>
              <a:rPr lang="pt-BR" sz="1600" dirty="0" err="1"/>
              <a:t>ServControl</a:t>
            </a:r>
            <a:r>
              <a:rPr lang="pt-BR" sz="1600" dirty="0"/>
              <a:t> tem como objetivo o gerenciamento de uma rede de empresas de prestação de serviços de manutenção de micros e equipamentos de informática, assim como a realização de vendas de equipamentos e o controle de pagamentos.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71581E-52C6-E02A-5D65-6A0576875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7CB9-3252-6684-88B0-DC9CF03F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694142-5E99-DA3D-0DFB-5C0A7ED82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15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B03C336-33AB-CEBF-C1AA-5658F9089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6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	         É necessário que o sistema gerencie os serviços, clientes, equipamentos, tipos de equipamentos, unidades da empresa e matérias-primas. A empresa disponibilizará para o cliente a realização de orçamento on-line após o cliente ser devidamente cadastrado no sistema. O cadastro do cliente é realizado por um atendente via telefone que disponibilizará para o mesmo uma senha de acesso ao sistema.</a:t>
            </a:r>
            <a:endParaRPr lang="pt-BR" alt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270DB2-6D0B-6FBB-74C0-251B2D9FC4F7}"/>
              </a:ext>
            </a:extLst>
          </p:cNvPr>
          <p:cNvSpPr txBox="1"/>
          <p:nvPr/>
        </p:nvSpPr>
        <p:spPr>
          <a:xfrm>
            <a:off x="7023548" y="32453"/>
            <a:ext cx="21204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Básicas</a:t>
            </a:r>
          </a:p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serviços.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equipamentos.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tipo.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unidades.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matérias-primas.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31071BF-11D4-DB9C-13A8-48E8295F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426B-5478-A0EA-C27A-8E42725F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A5200-870A-C4C9-83A9-06B4F0933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16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0616D2CC-E430-11FC-CDC4-CB9580311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0652"/>
            <a:ext cx="9144000" cy="642938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pPr>
              <a:defRPr/>
            </a:pPr>
            <a:r>
              <a:rPr lang="pt-BR" altLang="pt-BR" dirty="0"/>
              <a:t>Estudo de caso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7205156C-3164-F766-A911-DA750E66E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Autofit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5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5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500" dirty="0"/>
              <a:t>          O cliente pode requisitar on-line um orçamento de serviços ou equipamentos que deseja adquirir informando os dados dos equipamentos e serviços a serem prestados. Um orçamento necessita possuir apenas um tipo sendo venda ou manutenção e necessita ser informado caso seja de manutenção qual o endereço completo no qual o equipamento se encontra para retirada e entrega após o orçamento aprovado, e datas possíveis de para a coleta. </a:t>
            </a:r>
            <a:endParaRPr lang="pt-BR" altLang="pt-BR" sz="15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96D7094-4DAC-4DCB-EE93-4314419C4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EF4BC24-14E3-1509-5240-9D7A260ECECF}"/>
              </a:ext>
            </a:extLst>
          </p:cNvPr>
          <p:cNvSpPr txBox="1"/>
          <p:nvPr/>
        </p:nvSpPr>
        <p:spPr>
          <a:xfrm>
            <a:off x="6892040" y="32453"/>
            <a:ext cx="22519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Fundamentais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Analisar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Aprovar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separação de produtos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Definir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Realizar manutenção</a:t>
            </a:r>
          </a:p>
        </p:txBody>
      </p:sp>
    </p:spTree>
    <p:extLst>
      <p:ext uri="{BB962C8B-B14F-4D97-AF65-F5344CB8AC3E}">
        <p14:creationId xmlns:p14="http://schemas.microsoft.com/office/powerpoint/2010/main" val="298317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1136-88A8-FB25-C058-737F9640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412B31-5C20-F7D3-B451-7133224EA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17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3C1AD93B-7116-C2F9-99B2-EC87D5262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0652"/>
            <a:ext cx="9144000" cy="642938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pPr>
              <a:defRPr/>
            </a:pPr>
            <a:r>
              <a:rPr lang="pt-BR" altLang="pt-BR" dirty="0"/>
              <a:t>Estudo de caso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990B480-6F1B-8202-ADB2-E6FA9D48F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Autofit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5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5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500" dirty="0"/>
              <a:t>          A empresa atende apenas em cidade onde existe unidades da mesma. Um funcionário, posteriormente, responderá o orçamento com os valores dos produtos (caso venda) e serviços (caso manutenção a serem realizadas), o prazo para realização de serviço ou entrega dos produtos, e a data de visita pré-agendada para realização do serviço.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500" dirty="0"/>
              <a:t>          Neste momento o sistema emitirá um e-mail ao cliente informando que o orçamento requisitado foi respondido.</a:t>
            </a:r>
            <a:endParaRPr lang="pt-BR" altLang="pt-BR" sz="15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DC7472-1F0A-2C52-37E1-9E4131DA6C8A}"/>
              </a:ext>
            </a:extLst>
          </p:cNvPr>
          <p:cNvSpPr txBox="1"/>
          <p:nvPr/>
        </p:nvSpPr>
        <p:spPr>
          <a:xfrm>
            <a:off x="6892040" y="32453"/>
            <a:ext cx="22519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Fundamentais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Analisar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Aprovar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separação de produtos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Definir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Realizar manutenção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B11D20-06F5-C0C2-D4A4-66FB4142B9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6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67B20-ECFD-92DE-AACE-EA8733C8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88560E-DAC4-AF36-6D09-58E3042CD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18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568EE2B4-A545-8261-8262-AFE03B25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0652"/>
            <a:ext cx="9144000" cy="642938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pPr>
              <a:defRPr/>
            </a:pPr>
            <a:r>
              <a:rPr lang="pt-BR" altLang="pt-BR" dirty="0"/>
              <a:t>Estudo de caso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83D5C0E-75FF-CEF8-A76A-BFD895B30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Autofit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6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  O cliente informará on-line a aprovação ou reprovação do orçamento e realizará o pagamento do mesmo via PagSeguro.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 Com o orçamento aprovado </a:t>
            </a:r>
            <a:r>
              <a:rPr lang="pt-BR" sz="1600" dirty="0" err="1"/>
              <a:t>iniciase</a:t>
            </a:r>
            <a:r>
              <a:rPr lang="pt-BR" sz="1600" dirty="0"/>
              <a:t> o processo de separação de produtos para entrega caso ele seja de venda.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Após postado os produtos é necessário informar no sistema o código de rastreio da encomenda que é enviada por correios.</a:t>
            </a:r>
            <a:endParaRPr lang="pt-BR" alt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AEFE34-9F5E-B83F-74BE-79C7EA72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95F12F0-364F-5B55-69A2-18A1025FF278}"/>
              </a:ext>
            </a:extLst>
          </p:cNvPr>
          <p:cNvSpPr txBox="1"/>
          <p:nvPr/>
        </p:nvSpPr>
        <p:spPr>
          <a:xfrm>
            <a:off x="6892040" y="32453"/>
            <a:ext cx="22519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Fundamentais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Analisar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Aprovar Orçamento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separação de produtos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Definir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Realizar manutenção</a:t>
            </a:r>
          </a:p>
        </p:txBody>
      </p:sp>
    </p:spTree>
    <p:extLst>
      <p:ext uri="{BB962C8B-B14F-4D97-AF65-F5344CB8AC3E}">
        <p14:creationId xmlns:p14="http://schemas.microsoft.com/office/powerpoint/2010/main" val="195675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50BC-ED73-E5DC-A05B-1F4FE6DF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40D5F6-6270-3170-AE23-2DB933AE1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17910" indent="-160735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64293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900113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157288" indent="-128588"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41446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167163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1928813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185988" indent="-128588" algn="ctr" eaLnBrk="0" fontAlgn="base" hangingPunct="0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7829410-EBDF-4994-8A1E-35C850DB0E59}" type="slidenum">
              <a:rPr lang="pt-BR" altLang="pt-BR" sz="788" b="0">
                <a:latin typeface="Arial" panose="020B0604020202020204" pitchFamily="34" charset="0"/>
              </a:rPr>
              <a:pPr>
                <a:defRPr/>
              </a:pPr>
              <a:t>19</a:t>
            </a:fld>
            <a:endParaRPr lang="pt-BR" altLang="pt-BR" sz="788" b="0">
              <a:latin typeface="Arial" panose="020B0604020202020204" pitchFamily="34" charset="0"/>
            </a:endParaRPr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191A03C8-4A24-59B1-B17A-A3D5F8C86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0652"/>
            <a:ext cx="9144000" cy="642938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pPr>
              <a:defRPr/>
            </a:pPr>
            <a:r>
              <a:rPr lang="pt-BR" altLang="pt-BR" dirty="0"/>
              <a:t>Estudo de caso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CA9278C-98DE-2357-3074-16AD93435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63"/>
            <a:ext cx="2627784" cy="503544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b="1" dirty="0"/>
              <a:t>Controle de Manutenção de Equipamentos de TI 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endParaRPr lang="pt-BR" sz="1600" dirty="0"/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  Durante a realização do serviço o funcionário responsável deve informar os produtos utilizadas para abatimento no estoque e controle do valor do serviço prestado.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  É necessário saber qual funcionário realizou cada etapa do serviço prestado para controle de qualidade.</a:t>
            </a:r>
          </a:p>
          <a:p>
            <a:pPr marL="0" indent="0" algn="just">
              <a:buNone/>
              <a:tabLst>
                <a:tab pos="2103835" algn="ctr"/>
                <a:tab pos="4208860" algn="r"/>
              </a:tabLst>
            </a:pPr>
            <a:r>
              <a:rPr lang="pt-BR" sz="1600" dirty="0"/>
              <a:t>          O cliente poderá realizar o acompanhamento da realização dos serviços em seu equipamento, assim como os valores e peças que estão sendo trocadas.</a:t>
            </a:r>
            <a:endParaRPr lang="pt-BR" altLang="pt-BR" sz="1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F77120-421C-E605-85FD-775FC88AFF99}"/>
              </a:ext>
            </a:extLst>
          </p:cNvPr>
          <p:cNvSpPr txBox="1"/>
          <p:nvPr/>
        </p:nvSpPr>
        <p:spPr>
          <a:xfrm>
            <a:off x="6892040" y="32453"/>
            <a:ext cx="22519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Fundamentais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Orçamento.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Analisar Orçamento.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Aprovar Orçamento.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Efetuar separação de produtos.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Definir entrega.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Realizar manutenção.</a:t>
            </a:r>
          </a:p>
          <a:p>
            <a:endParaRPr lang="pt-BR" sz="1600" dirty="0"/>
          </a:p>
          <a:p>
            <a:endParaRPr lang="pt-BR" sz="1600" dirty="0"/>
          </a:p>
          <a:p>
            <a:r>
              <a:rPr lang="pt-BR" sz="1600" b="1" dirty="0"/>
              <a:t>Saída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Emitir e-mail de resposta de orçamento.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Emitir acompanhamento de manutenção.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Emitir acompanhamento de venda.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374A6A7-0E13-E377-29D7-89CD0879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8" t="26200" r="16926" b="24801"/>
          <a:stretch/>
        </p:blipFill>
        <p:spPr>
          <a:xfrm>
            <a:off x="2608767" y="555526"/>
            <a:ext cx="433949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5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71"/>
    </mc:Choice>
    <mc:Fallback xmlns="">
      <p:transition spd="slow" advTm="5857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19735"/>
            <a:ext cx="9143999" cy="514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67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44"/>
    </mc:Choice>
    <mc:Fallback xmlns="">
      <p:transition spd="slow" advTm="63044"/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item1.xml><?xml version="1.0" encoding="utf-8"?>
<athena xmlns="http://schemas.microsoft.com/edu/athena" version="0.1.3517.0">
  <media streamable="true" recordStart="0" recordEnd="10076" recordLength="10094" audioOnly="true" start="0" end="10076" audioFormat="{00001610-0000-0010-8000-00AA00389B71}" audioRate="44100" muted="false" volume="0.8" fadeIn="0" fadeOut="0" videoFormat="{34363248-0000-0010-8000-00AA00389B71}" videoRate="15" videoWidth="256" videoHeight="256"/>
</athena>
</file>

<file path=customXml/item2.xml><?xml version="1.0" encoding="utf-8"?>
<athena xmlns="http://schemas.microsoft.com/edu/athena" version="0.1.3517.0">
  <media streamable="true" recordStart="0" recordEnd="10641" recordLength="10666" audioOnly="true"/>
</athena>
</file>

<file path=customXml/item3.xml><?xml version="1.0" encoding="utf-8"?>
<athena xmlns="http://schemas.microsoft.com/edu/athena" version="0.1.3517.0">
  <timings duration="10253"/>
</athena>
</file>

<file path=customXml/item4.xml><?xml version="1.0" encoding="utf-8"?>
<athena xmlns="http://schemas.microsoft.com/edu/athena" version="0.1.3517.0">
  <media streamable="true" recordStart="0" recordEnd="12473" recordLength="12496" audioOnly="true" start="0" end="12473" audioFormat="{00001610-0000-0010-8000-00AA00389B71}" audioRate="44100" muted="false" volume="0.8" fadeIn="0" fadeOut="0" videoFormat="{34363248-0000-0010-8000-00AA00389B71}" videoRate="15" videoWidth="256" videoHeight="256"/>
</athena>
</file>

<file path=customXml/item5.xml><?xml version="1.0" encoding="utf-8"?>
<athena xmlns="http://schemas.microsoft.com/edu/athena" version="0.1.3517.0">
  <media streamable="true" recordStart="0" recordEnd="31716" recordLength="31788" audioOnly="true"/>
</athena>
</file>

<file path=customXml/item6.xml><?xml version="1.0" encoding="utf-8"?>
<athena xmlns="http://schemas.microsoft.com/edu/athena" version="0.1.3517.0">
  <timings duration="19384"/>
</athena>
</file>

<file path=customXml/item7.xml><?xml version="1.0" encoding="utf-8"?>
<athena xmlns="http://schemas.microsoft.com/edu/athena" version="0.1.3517.0">
  <timings duration="10076"/>
</athena>
</file>

<file path=customXml/item8.xml><?xml version="1.0" encoding="utf-8"?>
<athena xmlns="http://schemas.microsoft.com/edu/athena" version="0.1.3517.0">
  <timings duration="12473"/>
</athena>
</file>

<file path=customXml/item9.xml><?xml version="1.0" encoding="utf-8"?>
<athena xmlns="http://schemas.microsoft.com/edu/athena" version="0.1.3517.0">
  <timings duration="20188"/>
</athena>
</file>

<file path=customXml/item10.xml><?xml version="1.0" encoding="utf-8"?>
<athena xmlns="http://schemas.microsoft.com/edu/athena" version="0.1.3517.0">
  <media streamable="true" recordStart="0" recordEnd="42047" recordLength="42076" audioOnly="true" start="0" end="42047" audioFormat="{00001610-0000-0010-8000-00AA00389B71}" audioRate="44100" muted="false" volume="0.8" fadeIn="0" fadeOut="0" videoFormat="{34363248-0000-0010-8000-00AA00389B71}" videoRate="15" videoWidth="256" videoHeight="256"/>
</athena>
</file>

<file path=customXml/item11.xml><?xml version="1.0" encoding="utf-8"?>
<athena xmlns="http://schemas.microsoft.com/edu/athena" version="0.1.3517.0">
  <timings duration="42047"/>
</athena>
</file>

<file path=customXml/item12.xml><?xml version="1.0" encoding="utf-8"?>
<athena xmlns="http://schemas.microsoft.com/edu/athena" version="0.1.3517.0">
  <media streamable="true" recordStart="0" recordEnd="42047" recordLength="42076" audioOnly="true" start="0" end="42047" audioFormat="{00001610-0000-0010-8000-00AA00389B71}" audioRate="44100" muted="false" volume="0.8" fadeIn="0" fadeOut="0" videoFormat="{34363248-0000-0010-8000-00AA00389B71}" videoRate="15" videoWidth="256" videoHeight="256"/>
</athena>
</file>

<file path=customXml/item13.xml><?xml version="1.0" encoding="utf-8"?>
<athena xmlns="http://schemas.microsoft.com/edu/athena" version="0.1.3517.0">
  <media streamable="true" recordStart="0" recordEnd="25109" recordLength="25144" audioOnly="true" start="0" end="25109" audioFormat="{00001610-0000-0010-8000-00AA00389B71}" audioRate="44100" muted="false" volume="0.8" fadeIn="0" fadeOut="0" videoFormat="{34363248-0000-0010-8000-00AA00389B71}" videoRate="15" videoWidth="256" videoHeight="256"/>
</athena>
</file>

<file path=customXml/item14.xml><?xml version="1.0" encoding="utf-8"?>
<athena xmlns="http://schemas.microsoft.com/edu/athena" version="0.1.3517.0">
  <media streamable="true" recordStart="0" recordEnd="19384" recordLength="19418" audioOnly="true" start="0" end="19384" audioFormat="{00001610-0000-0010-8000-00AA00389B71}" audioRate="44100" muted="false" volume="0.8" fadeIn="0" fadeOut="0" videoFormat="{34363248-0000-0010-8000-00AA00389B71}" videoRate="15" videoWidth="256" videoHeight="256"/>
</athena>
</file>

<file path=customXml/item15.xml><?xml version="1.0" encoding="utf-8"?>
<athena xmlns="http://schemas.microsoft.com/edu/athena" version="0.1.3517.0">
  <media streamable="true" recordStart="0" recordEnd="19384" recordLength="19418" audioOnly="true" start="0" end="19384" audioFormat="{00001610-0000-0010-8000-00AA00389B71}" audioRate="44100" muted="false" volume="0.8" fadeIn="0" fadeOut="0" videoFormat="{34363248-0000-0010-8000-00AA00389B71}" videoRate="15" videoWidth="256" videoHeight="256"/>
</athena>
</file>

<file path=customXml/item16.xml><?xml version="1.0" encoding="utf-8"?>
<athena xmlns="http://schemas.microsoft.com/edu/athena" version="0.1.3517.0">
  <media streamable="true" recordStart="0" recordEnd="10804" recordLength="10866" audioOnly="true"/>
</athena>
</file>

<file path=customXml/item17.xml><?xml version="1.0" encoding="utf-8"?>
<athena xmlns="http://schemas.microsoft.com/edu/athena" version="0.1.3517.0">
  <timings duration="19384"/>
</athena>
</file>

<file path=customXml/item18.xml><?xml version="1.0" encoding="utf-8"?>
<athena xmlns="http://schemas.microsoft.com/edu/athena" version="0.1.3517.0">
  <media streamable="true" recordStart="0" recordEnd="19384" recordLength="19418" audioOnly="true" start="0" end="19384" audioFormat="{00001610-0000-0010-8000-00AA00389B71}" audioRate="44100" muted="false" volume="0.8" fadeIn="0" fadeOut="0" videoFormat="{34363248-0000-0010-8000-00AA00389B71}" videoRate="15" videoWidth="256" videoHeight="256"/>
</athena>
</file>

<file path=customXml/item19.xml><?xml version="1.0" encoding="utf-8"?>
<athena xmlns="http://schemas.microsoft.com/edu/athena" version="0.1.3517.0">
  <timings duration="42047"/>
</athena>
</file>

<file path=customXml/item20.xml><?xml version="1.0" encoding="utf-8"?>
<athena xmlns="http://schemas.microsoft.com/edu/athena" version="0.1.3517.0">
  <timings duration="59861"/>
</athena>
</file>

<file path=customXml/item21.xml><?xml version="1.0" encoding="utf-8"?>
<athena xmlns="http://schemas.microsoft.com/edu/athena" version="0.1.3517.0">
  <media streamable="true" recordStart="0" recordEnd="19384" recordLength="19418" audioOnly="true" start="0" end="19384" audioFormat="{00001610-0000-0010-8000-00AA00389B71}" audioRate="44100" muted="false" volume="0.8" fadeIn="0" fadeOut="0" videoFormat="{34363248-0000-0010-8000-00AA00389B71}" videoRate="15" videoWidth="256" videoHeight="256"/>
</athena>
</file>

<file path=customXml/item22.xml><?xml version="1.0" encoding="utf-8"?>
<athena xmlns="http://schemas.microsoft.com/edu/athena" version="0.1.3517.0">
  <media streamable="true" recordStart="0" recordEnd="10253" recordLength="10306" audioOnly="true" start="0" end="10253" audioFormat="{00001610-0000-0010-8000-00AA00389B71}" audioRate="44100" muted="false" volume="0.8" fadeIn="0" fadeOut="0" videoFormat="{34363248-0000-0010-8000-00AA00389B71}" videoRate="15" videoWidth="256" videoHeight="256"/>
</athena>
</file>

<file path=customXml/item23.xml><?xml version="1.0" encoding="utf-8"?>
<athena xmlns="http://schemas.microsoft.com/edu/athena" version="0.1.3517.0">
  <media streamable="true" recordStart="0" recordEnd="19384" recordLength="19418" audioOnly="true" start="0" end="19384" audioFormat="{00001610-0000-0010-8000-00AA00389B71}" audioRate="44100" muted="false" volume="0.8" fadeIn="0" fadeOut="0" videoFormat="{34363248-0000-0010-8000-00AA00389B71}" videoRate="15" videoWidth="256" videoHeight="256"/>
</athena>
</file>

<file path=customXml/item24.xml><?xml version="1.0" encoding="utf-8"?>
<athena xmlns="http://schemas.microsoft.com/edu/athena" version="0.1.3517.0">
  <timings duration="19384"/>
</athena>
</file>

<file path=customXml/item25.xml><?xml version="1.0" encoding="utf-8"?>
<athena xmlns="http://schemas.microsoft.com/edu/athena" version="0.1.3517.0">
  <media streamable="true" recordStart="0" recordEnd="20188" recordLength="20248" audioOnly="true" start="0" end="20188" audioFormat="{00001610-0000-0010-8000-00AA00389B71}" audioRate="44100" muted="false" volume="0.8" fadeIn="0" fadeOut="0" videoFormat="{34363248-0000-0010-8000-00AA00389B71}" videoRate="15" videoWidth="256" videoHeight="256"/>
</athena>
</file>

<file path=customXml/item26.xml><?xml version="1.0" encoding="utf-8"?>
<athena xmlns="http://schemas.microsoft.com/edu/athena" version="0.1.3517.0">
  <media streamable="true" recordStart="0" recordEnd="12264" recordLength="12284" audioOnly="true"/>
</athena>
</file>

<file path=customXml/item27.xml><?xml version="1.0" encoding="utf-8"?>
<athena xmlns="http://schemas.microsoft.com/edu/athena" version="0.1.3517.0">
  <timings duration="19384"/>
</athena>
</file>

<file path=customXml/item28.xml><?xml version="1.0" encoding="utf-8"?>
<athena xmlns="http://schemas.microsoft.com/edu/athena" version="0.1.3517.0">
  <timings duration="25109"/>
</athena>
</file>

<file path=customXml/item29.xml><?xml version="1.0" encoding="utf-8"?>
<athena xmlns="http://schemas.microsoft.com/edu/athena" version="0.1.3517.0">
  <media streamable="true" recordStart="0" recordEnd="59861" recordLength="59886" audioOnly="true" start="0" end="59861" audioFormat="{00001610-0000-0010-8000-00AA00389B71}" audioRate="44100" muted="false" volume="0.8" fadeIn="0" fadeOut="0" videoFormat="{34363248-0000-0010-8000-00AA00389B71}" videoRate="15" videoWidth="256" videoHeight="256"/>
</athena>
</file>

<file path=customXml/item30.xml><?xml version="1.0" encoding="utf-8"?>
<athena xmlns="http://schemas.microsoft.com/edu/athena" version="0.1.3517.0">
  <timings duration="19384"/>
</athena>
</file>

<file path=customXml/itemProps1.xml><?xml version="1.0" encoding="utf-8"?>
<ds:datastoreItem xmlns:ds="http://schemas.openxmlformats.org/officeDocument/2006/customXml" ds:itemID="{D423BF28-3A0E-4EED-A79C-6F2CCC72D63D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2877984C-D627-4E50-863B-5E73971BE76D}">
  <ds:schemaRefs>
    <ds:schemaRef ds:uri="http://schemas.microsoft.com/edu/athena"/>
  </ds:schemaRefs>
</ds:datastoreItem>
</file>

<file path=customXml/itemProps3.xml><?xml version="1.0" encoding="utf-8"?>
<ds:datastoreItem xmlns:ds="http://schemas.openxmlformats.org/officeDocument/2006/customXml" ds:itemID="{04E71C26-138B-4219-8974-89E14E62C29C}">
  <ds:schemaRefs>
    <ds:schemaRef ds:uri="http://schemas.microsoft.com/edu/athena"/>
  </ds:schemaRefs>
</ds:datastoreItem>
</file>

<file path=customXml/itemProps4.xml><?xml version="1.0" encoding="utf-8"?>
<ds:datastoreItem xmlns:ds="http://schemas.openxmlformats.org/officeDocument/2006/customXml" ds:itemID="{454C3C26-C01A-4E1B-BEB9-F623610FCEFB}">
  <ds:schemaRefs>
    <ds:schemaRef ds:uri="http://schemas.microsoft.com/edu/athena"/>
  </ds:schemaRefs>
</ds:datastoreItem>
</file>

<file path=customXml/itemProps5.xml><?xml version="1.0" encoding="utf-8"?>
<ds:datastoreItem xmlns:ds="http://schemas.openxmlformats.org/officeDocument/2006/customXml" ds:itemID="{112F1C8C-6F7D-4442-BED1-FE165BEFB713}">
  <ds:schemaRefs>
    <ds:schemaRef ds:uri="http://schemas.microsoft.com/edu/athena"/>
  </ds:schemaRefs>
</ds:datastoreItem>
</file>

<file path=customXml/itemProps6.xml><?xml version="1.0" encoding="utf-8"?>
<ds:datastoreItem xmlns:ds="http://schemas.openxmlformats.org/officeDocument/2006/customXml" ds:itemID="{7C0B0168-4CAD-4E5B-B855-147A8EF15A99}">
  <ds:schemaRefs>
    <ds:schemaRef ds:uri="http://schemas.microsoft.com/edu/athena"/>
  </ds:schemaRefs>
</ds:datastoreItem>
</file>

<file path=customXml/itemProps7.xml><?xml version="1.0" encoding="utf-8"?>
<ds:datastoreItem xmlns:ds="http://schemas.openxmlformats.org/officeDocument/2006/customXml" ds:itemID="{E82F73A9-5E97-4CCB-8E48-79759332792F}">
  <ds:schemaRefs>
    <ds:schemaRef ds:uri="http://schemas.microsoft.com/edu/athena"/>
  </ds:schemaRefs>
</ds:datastoreItem>
</file>

<file path=customXml/itemProps8.xml><?xml version="1.0" encoding="utf-8"?>
<ds:datastoreItem xmlns:ds="http://schemas.openxmlformats.org/officeDocument/2006/customXml" ds:itemID="{E9DD5C54-F17E-4C68-B80F-7EA98C4B4EB3}">
  <ds:schemaRefs>
    <ds:schemaRef ds:uri="http://schemas.microsoft.com/edu/athena"/>
  </ds:schemaRefs>
</ds:datastoreItem>
</file>

<file path=customXml/itemProps9.xml><?xml version="1.0" encoding="utf-8"?>
<ds:datastoreItem xmlns:ds="http://schemas.openxmlformats.org/officeDocument/2006/customXml" ds:itemID="{9FD180E3-809B-46D5-B152-54C0EFFB1BFC}">
  <ds:schemaRefs>
    <ds:schemaRef ds:uri="http://schemas.microsoft.com/edu/athena"/>
  </ds:schemaRefs>
</ds:datastoreItem>
</file>

<file path=customXml/itemProps10.xml><?xml version="1.0" encoding="utf-8"?>
<ds:datastoreItem xmlns:ds="http://schemas.openxmlformats.org/officeDocument/2006/customXml" ds:itemID="{12FA7AA9-019C-4EF6-A0C5-E274180D0C79}">
  <ds:schemaRefs>
    <ds:schemaRef ds:uri="http://schemas.microsoft.com/edu/athena"/>
  </ds:schemaRefs>
</ds:datastoreItem>
</file>

<file path=customXml/itemProps11.xml><?xml version="1.0" encoding="utf-8"?>
<ds:datastoreItem xmlns:ds="http://schemas.openxmlformats.org/officeDocument/2006/customXml" ds:itemID="{CCF2DF00-9CCF-456E-8AF2-C98A0B13F379}">
  <ds:schemaRefs>
    <ds:schemaRef ds:uri="http://schemas.microsoft.com/edu/athena"/>
  </ds:schemaRefs>
</ds:datastoreItem>
</file>

<file path=customXml/itemProps12.xml><?xml version="1.0" encoding="utf-8"?>
<ds:datastoreItem xmlns:ds="http://schemas.openxmlformats.org/officeDocument/2006/customXml" ds:itemID="{3DB0A1BA-61F8-4CFD-83A1-0E0A35DB19B4}">
  <ds:schemaRefs>
    <ds:schemaRef ds:uri="http://schemas.microsoft.com/edu/athena"/>
  </ds:schemaRefs>
</ds:datastoreItem>
</file>

<file path=customXml/itemProps13.xml><?xml version="1.0" encoding="utf-8"?>
<ds:datastoreItem xmlns:ds="http://schemas.openxmlformats.org/officeDocument/2006/customXml" ds:itemID="{37B5EDE6-63C6-4B5A-B5B3-A251FE2A1131}">
  <ds:schemaRefs>
    <ds:schemaRef ds:uri="http://schemas.microsoft.com/edu/athena"/>
  </ds:schemaRefs>
</ds:datastoreItem>
</file>

<file path=customXml/itemProps14.xml><?xml version="1.0" encoding="utf-8"?>
<ds:datastoreItem xmlns:ds="http://schemas.openxmlformats.org/officeDocument/2006/customXml" ds:itemID="{36A58CE4-F7BD-4BDC-962D-313247196721}">
  <ds:schemaRefs>
    <ds:schemaRef ds:uri="http://schemas.microsoft.com/edu/athena"/>
  </ds:schemaRefs>
</ds:datastoreItem>
</file>

<file path=customXml/itemProps15.xml><?xml version="1.0" encoding="utf-8"?>
<ds:datastoreItem xmlns:ds="http://schemas.openxmlformats.org/officeDocument/2006/customXml" ds:itemID="{89751291-B600-4D96-8EDF-44910B8C2292}">
  <ds:schemaRefs>
    <ds:schemaRef ds:uri="http://schemas.microsoft.com/edu/athena"/>
  </ds:schemaRefs>
</ds:datastoreItem>
</file>

<file path=customXml/itemProps16.xml><?xml version="1.0" encoding="utf-8"?>
<ds:datastoreItem xmlns:ds="http://schemas.openxmlformats.org/officeDocument/2006/customXml" ds:itemID="{AB7110AC-E95E-41DA-9A94-929551AD2C6F}">
  <ds:schemaRefs>
    <ds:schemaRef ds:uri="http://schemas.microsoft.com/edu/athena"/>
  </ds:schemaRefs>
</ds:datastoreItem>
</file>

<file path=customXml/itemProps17.xml><?xml version="1.0" encoding="utf-8"?>
<ds:datastoreItem xmlns:ds="http://schemas.openxmlformats.org/officeDocument/2006/customXml" ds:itemID="{1D345C21-679A-417E-A01D-06DB5D40A43E}">
  <ds:schemaRefs>
    <ds:schemaRef ds:uri="http://schemas.microsoft.com/edu/athena"/>
  </ds:schemaRefs>
</ds:datastoreItem>
</file>

<file path=customXml/itemProps18.xml><?xml version="1.0" encoding="utf-8"?>
<ds:datastoreItem xmlns:ds="http://schemas.openxmlformats.org/officeDocument/2006/customXml" ds:itemID="{7C3E677C-02A6-42D4-BECA-77BC975A7055}">
  <ds:schemaRefs>
    <ds:schemaRef ds:uri="http://schemas.microsoft.com/edu/athena"/>
  </ds:schemaRefs>
</ds:datastoreItem>
</file>

<file path=customXml/itemProps19.xml><?xml version="1.0" encoding="utf-8"?>
<ds:datastoreItem xmlns:ds="http://schemas.openxmlformats.org/officeDocument/2006/customXml" ds:itemID="{0063AFA2-1FCA-4BCA-8784-84A469D56E52}">
  <ds:schemaRefs>
    <ds:schemaRef ds:uri="http://schemas.microsoft.com/edu/athena"/>
  </ds:schemaRefs>
</ds:datastoreItem>
</file>

<file path=customXml/itemProps20.xml><?xml version="1.0" encoding="utf-8"?>
<ds:datastoreItem xmlns:ds="http://schemas.openxmlformats.org/officeDocument/2006/customXml" ds:itemID="{DCFBA4AF-D379-46AF-821F-64D9F6BA13EC}">
  <ds:schemaRefs>
    <ds:schemaRef ds:uri="http://schemas.microsoft.com/edu/athena"/>
  </ds:schemaRefs>
</ds:datastoreItem>
</file>

<file path=customXml/itemProps21.xml><?xml version="1.0" encoding="utf-8"?>
<ds:datastoreItem xmlns:ds="http://schemas.openxmlformats.org/officeDocument/2006/customXml" ds:itemID="{2AC940EE-07AB-441F-8537-8CD8D1E598EE}">
  <ds:schemaRefs>
    <ds:schemaRef ds:uri="http://schemas.microsoft.com/edu/athena"/>
  </ds:schemaRefs>
</ds:datastoreItem>
</file>

<file path=customXml/itemProps22.xml><?xml version="1.0" encoding="utf-8"?>
<ds:datastoreItem xmlns:ds="http://schemas.openxmlformats.org/officeDocument/2006/customXml" ds:itemID="{A808CA81-593D-4A26-8279-B080CF6B48C6}">
  <ds:schemaRefs>
    <ds:schemaRef ds:uri="http://schemas.microsoft.com/edu/athena"/>
  </ds:schemaRefs>
</ds:datastoreItem>
</file>

<file path=customXml/itemProps23.xml><?xml version="1.0" encoding="utf-8"?>
<ds:datastoreItem xmlns:ds="http://schemas.openxmlformats.org/officeDocument/2006/customXml" ds:itemID="{D0605869-81E5-4F29-B9EE-49EEB3BE3445}">
  <ds:schemaRefs>
    <ds:schemaRef ds:uri="http://schemas.microsoft.com/edu/athena"/>
  </ds:schemaRefs>
</ds:datastoreItem>
</file>

<file path=customXml/itemProps24.xml><?xml version="1.0" encoding="utf-8"?>
<ds:datastoreItem xmlns:ds="http://schemas.openxmlformats.org/officeDocument/2006/customXml" ds:itemID="{46C3EE5C-E6DA-411C-954C-5152DE147471}">
  <ds:schemaRefs>
    <ds:schemaRef ds:uri="http://schemas.microsoft.com/edu/athena"/>
  </ds:schemaRefs>
</ds:datastoreItem>
</file>

<file path=customXml/itemProps25.xml><?xml version="1.0" encoding="utf-8"?>
<ds:datastoreItem xmlns:ds="http://schemas.openxmlformats.org/officeDocument/2006/customXml" ds:itemID="{19F62126-7DAC-49FF-B616-8641FCE603C4}">
  <ds:schemaRefs>
    <ds:schemaRef ds:uri="http://schemas.microsoft.com/edu/athena"/>
  </ds:schemaRefs>
</ds:datastoreItem>
</file>

<file path=customXml/itemProps26.xml><?xml version="1.0" encoding="utf-8"?>
<ds:datastoreItem xmlns:ds="http://schemas.openxmlformats.org/officeDocument/2006/customXml" ds:itemID="{5D6A17D4-EA71-432C-926E-06377107353A}">
  <ds:schemaRefs>
    <ds:schemaRef ds:uri="http://schemas.microsoft.com/edu/athena"/>
  </ds:schemaRefs>
</ds:datastoreItem>
</file>

<file path=customXml/itemProps27.xml><?xml version="1.0" encoding="utf-8"?>
<ds:datastoreItem xmlns:ds="http://schemas.openxmlformats.org/officeDocument/2006/customXml" ds:itemID="{CE962A60-CC3D-4CBB-AB74-5F6F3B0A647C}">
  <ds:schemaRefs>
    <ds:schemaRef ds:uri="http://schemas.microsoft.com/edu/athena"/>
  </ds:schemaRefs>
</ds:datastoreItem>
</file>

<file path=customXml/itemProps28.xml><?xml version="1.0" encoding="utf-8"?>
<ds:datastoreItem xmlns:ds="http://schemas.openxmlformats.org/officeDocument/2006/customXml" ds:itemID="{8317CE58-9C45-4C3A-947B-6E050DFF8A19}">
  <ds:schemaRefs>
    <ds:schemaRef ds:uri="http://schemas.microsoft.com/edu/athena"/>
  </ds:schemaRefs>
</ds:datastoreItem>
</file>

<file path=customXml/itemProps29.xml><?xml version="1.0" encoding="utf-8"?>
<ds:datastoreItem xmlns:ds="http://schemas.openxmlformats.org/officeDocument/2006/customXml" ds:itemID="{E86AB6A1-76CA-4667-8F0C-AC90D4FD1365}">
  <ds:schemaRefs>
    <ds:schemaRef ds:uri="http://schemas.microsoft.com/edu/athena"/>
  </ds:schemaRefs>
</ds:datastoreItem>
</file>

<file path=customXml/itemProps30.xml><?xml version="1.0" encoding="utf-8"?>
<ds:datastoreItem xmlns:ds="http://schemas.openxmlformats.org/officeDocument/2006/customXml" ds:itemID="{AAD28FA4-2C92-4FE4-90FD-62D6AA3B17B3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1260</Words>
  <Application>Microsoft Office PowerPoint</Application>
  <PresentationFormat>Apresentação na tela (16:9)</PresentationFormat>
  <Paragraphs>190</Paragraphs>
  <Slides>20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Roboto</vt:lpstr>
      <vt:lpstr>Times New Roman</vt:lpstr>
      <vt:lpstr>Wingdings</vt:lpstr>
      <vt:lpstr>Tema do Office</vt:lpstr>
      <vt:lpstr>Web Conferência III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Estudo de caso</vt:lpstr>
      <vt:lpstr>Apresentação do PowerPoint</vt:lpstr>
      <vt:lpstr>Apresentação do PowerPoint</vt:lpstr>
      <vt:lpstr>Estudo de caso</vt:lpstr>
      <vt:lpstr>Estudo de caso</vt:lpstr>
      <vt:lpstr>Estudo de caso</vt:lpstr>
      <vt:lpstr>Estudo de caso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da Apresentação</dc:title>
  <dc:creator>Ana Donaton</dc:creator>
  <cp:lastModifiedBy>Francisco Virginio Maracci</cp:lastModifiedBy>
  <cp:revision>153</cp:revision>
  <dcterms:created xsi:type="dcterms:W3CDTF">2018-04-17T11:43:45Z</dcterms:created>
  <dcterms:modified xsi:type="dcterms:W3CDTF">2025-04-14T13:10:43Z</dcterms:modified>
</cp:coreProperties>
</file>